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52"/>
  </p:notesMasterIdLst>
  <p:handoutMasterIdLst>
    <p:handoutMasterId r:id="rId53"/>
  </p:handoutMasterIdLst>
  <p:sldIdLst>
    <p:sldId id="1569" r:id="rId6"/>
    <p:sldId id="2670" r:id="rId7"/>
    <p:sldId id="686" r:id="rId8"/>
    <p:sldId id="2695" r:id="rId9"/>
    <p:sldId id="1261" r:id="rId10"/>
    <p:sldId id="2668" r:id="rId11"/>
    <p:sldId id="642" r:id="rId12"/>
    <p:sldId id="2684" r:id="rId13"/>
    <p:sldId id="1581" r:id="rId14"/>
    <p:sldId id="1269" r:id="rId15"/>
    <p:sldId id="1271" r:id="rId16"/>
    <p:sldId id="701" r:id="rId17"/>
    <p:sldId id="1579" r:id="rId18"/>
    <p:sldId id="2685" r:id="rId19"/>
    <p:sldId id="2673" r:id="rId20"/>
    <p:sldId id="754" r:id="rId21"/>
    <p:sldId id="2694" r:id="rId22"/>
    <p:sldId id="2686" r:id="rId23"/>
    <p:sldId id="2677" r:id="rId24"/>
    <p:sldId id="653" r:id="rId25"/>
    <p:sldId id="641" r:id="rId26"/>
    <p:sldId id="1602" r:id="rId27"/>
    <p:sldId id="2696" r:id="rId28"/>
    <p:sldId id="1605" r:id="rId29"/>
    <p:sldId id="1608" r:id="rId30"/>
    <p:sldId id="2697" r:id="rId31"/>
    <p:sldId id="1606" r:id="rId32"/>
    <p:sldId id="2687" r:id="rId33"/>
    <p:sldId id="1590" r:id="rId34"/>
    <p:sldId id="1607" r:id="rId35"/>
    <p:sldId id="2683" r:id="rId36"/>
    <p:sldId id="668" r:id="rId37"/>
    <p:sldId id="1619" r:id="rId38"/>
    <p:sldId id="2691" r:id="rId39"/>
    <p:sldId id="1270" r:id="rId40"/>
    <p:sldId id="2690" r:id="rId41"/>
    <p:sldId id="1609" r:id="rId42"/>
    <p:sldId id="2689" r:id="rId43"/>
    <p:sldId id="737" r:id="rId44"/>
    <p:sldId id="1618" r:id="rId45"/>
    <p:sldId id="2688" r:id="rId46"/>
    <p:sldId id="1324" r:id="rId47"/>
    <p:sldId id="2698" r:id="rId48"/>
    <p:sldId id="2665" r:id="rId49"/>
    <p:sldId id="355" r:id="rId50"/>
    <p:sldId id="288" r:id="rId51"/>
  </p:sldIdLst>
  <p:sldSz cx="12192000" cy="6858000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BF9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48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C7C50132-CFB1-4F90-BFE0-F15F05F23AF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3B4129BA-1211-4399-AA88-B277931CFD9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i="1"/>
              <a:t>先介绍，</a:t>
            </a:r>
            <a:r>
              <a:rPr lang="en-US" altLang="zh-CN" i="1"/>
              <a:t>final</a:t>
            </a:r>
            <a:r>
              <a:rPr lang="zh-CN" altLang="en-US" i="1"/>
              <a:t>是什么，可以干什么，修饰这些内容有哪些特点呢，我们先到代码中演示，再回来总结</a:t>
            </a:r>
            <a:endParaRPr lang="en-US" altLang="zh-CN" i="1"/>
          </a:p>
          <a:p>
            <a:r>
              <a:rPr lang="zh-CN" altLang="en-US" i="1"/>
              <a:t>好了，关于</a:t>
            </a:r>
            <a:r>
              <a:rPr lang="en-US" altLang="zh-CN" i="1"/>
              <a:t>final</a:t>
            </a:r>
            <a:r>
              <a:rPr lang="zh-CN" altLang="en-US" i="1"/>
              <a:t>的基本使用我们就讲到这里</a:t>
            </a:r>
            <a:endParaRPr lang="en-US" altLang="zh-CN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A2B03A0B-D534-4173-A010-6EE8E5FE12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AFE1CE0-5577-4E64-949F-64F473FC2173}" type="slidenum">
              <a:rPr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21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DCB2E629-E07A-4406-8138-6AA0722739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FF053BBC-6A62-4280-9F0D-87C1B8F1A358}"/>
              </a:ext>
            </a:extLst>
          </p:cNvPr>
          <p:cNvSpPr>
            <a:spLocks noGrp="1"/>
          </p:cNvSpPr>
          <p:nvPr>
            <p:ph type="body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4E49F707-9D9B-4406-B3FD-937A60F48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A28B0BC-6126-40CB-A0BF-9C08DF9A74D4}" type="slidenum">
              <a:rPr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897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896D445-2E28-4092-91E0-F941B8720C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7DA99EF0-3E01-40FC-831D-277A284E78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48E2F78B-0614-4C56-9717-6BBBF9B01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3F2E4CB-B4E3-4841-9458-F2A9B8FD0F9F}" type="slidenum">
              <a:rPr altLang="en-US" sz="1800" smtClean="0"/>
              <a:pPr/>
              <a:t>7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36499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896D445-2E28-4092-91E0-F941B8720C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7DA99EF0-3E01-40FC-831D-277A284E78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48E2F78B-0614-4C56-9717-6BBBF9B01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3F2E4CB-B4E3-4841-9458-F2A9B8FD0F9F}" type="slidenum">
              <a:rPr altLang="en-US" sz="1800" smtClean="0"/>
              <a:pPr/>
              <a:t>8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411864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896D445-2E28-4092-91E0-F941B8720C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7DA99EF0-3E01-40FC-831D-277A284E78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48E2F78B-0614-4C56-9717-6BBBF9B01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3F2E4CB-B4E3-4841-9458-F2A9B8FD0F9F}" type="slidenum">
              <a:rPr altLang="en-US" sz="1800" smtClean="0"/>
              <a:pPr/>
              <a:t>9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782229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896D445-2E28-4092-91E0-F941B8720C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7DA99EF0-3E01-40FC-831D-277A284E78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48E2F78B-0614-4C56-9717-6BBBF9B01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3F2E4CB-B4E3-4841-9458-F2A9B8FD0F9F}" type="slidenum">
              <a:rPr altLang="en-US" sz="1800" smtClean="0"/>
              <a:pPr/>
              <a:t>10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800932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AF901C33-663A-4F9E-A716-AB93170431A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23C757CC-5F53-400C-97AC-9EFB332519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先到代码中演示，然后再回来总结</a:t>
            </a:r>
            <a:endParaRPr lang="en-US" altLang="zh-CN"/>
          </a:p>
          <a:p>
            <a:r>
              <a:rPr lang="zh-CN" altLang="en-US"/>
              <a:t>这里是否要说一下</a:t>
            </a:r>
            <a:r>
              <a:rPr lang="en-US" altLang="zh-CN"/>
              <a:t>super</a:t>
            </a:r>
            <a:r>
              <a:rPr lang="zh-CN" altLang="en-US"/>
              <a:t>，如果提供了</a:t>
            </a:r>
            <a:r>
              <a:rPr lang="en-US" altLang="zh-CN"/>
              <a:t>super()</a:t>
            </a:r>
            <a:r>
              <a:rPr lang="zh-CN" altLang="en-US"/>
              <a:t>此类的调用，就不再有默认的第一句</a:t>
            </a:r>
            <a:r>
              <a:rPr lang="en-US" altLang="zh-CN"/>
              <a:t>super()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6DE89B02-DEF7-4A89-A9F5-32D2185EA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4043519-46FD-4619-A1B7-D331FAB43807}" type="slidenum">
              <a:rPr altLang="en-US" sz="1800" smtClean="0"/>
              <a:pPr/>
              <a:t>20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14946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AF2E0BA4-1DBD-4AD6-8B5C-68811342CB8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CE40DBE3-5D48-42F2-B4ED-4F766E6D6E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60F27256-C6B3-4825-912B-7F3A42E8D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11B5C51-E4B2-4B82-8836-90417EC1B68A}" type="slidenum">
              <a:rPr altLang="en-US" sz="1800" smtClean="0"/>
              <a:pPr/>
              <a:t>21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033994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738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AF901C33-663A-4F9E-A716-AB93170431A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23C757CC-5F53-400C-97AC-9EFB332519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先到代码中演示，然后再回来总结</a:t>
            </a:r>
            <a:endParaRPr lang="en-US" altLang="zh-CN"/>
          </a:p>
          <a:p>
            <a:r>
              <a:rPr lang="zh-CN" altLang="en-US"/>
              <a:t>这里是否要说一下</a:t>
            </a:r>
            <a:r>
              <a:rPr lang="en-US" altLang="zh-CN"/>
              <a:t>super</a:t>
            </a:r>
            <a:r>
              <a:rPr lang="zh-CN" altLang="en-US"/>
              <a:t>，如果提供了</a:t>
            </a:r>
            <a:r>
              <a:rPr lang="en-US" altLang="zh-CN"/>
              <a:t>super()</a:t>
            </a:r>
            <a:r>
              <a:rPr lang="zh-CN" altLang="en-US"/>
              <a:t>此类的调用，就不再有默认的第一句</a:t>
            </a:r>
            <a:r>
              <a:rPr lang="en-US" altLang="zh-CN"/>
              <a:t>super()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6DE89B02-DEF7-4A89-A9F5-32D2185EA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4043519-46FD-4619-A1B7-D331FAB43807}" type="slidenum">
              <a:rPr altLang="en-US" sz="1800" smtClean="0"/>
              <a:pPr/>
              <a:t>24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836049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896D445-2E28-4092-91E0-F941B8720C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7DA99EF0-3E01-40FC-831D-277A284E78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48E2F78B-0614-4C56-9717-6BBBF9B01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3F2E4CB-B4E3-4841-9458-F2A9B8FD0F9F}" type="slidenum">
              <a:rPr altLang="en-US" sz="1800" smtClean="0"/>
              <a:pPr/>
              <a:t>27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506612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896D445-2E28-4092-91E0-F941B8720C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7DA99EF0-3E01-40FC-831D-277A284E78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48E2F78B-0614-4C56-9717-6BBBF9B01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3F2E4CB-B4E3-4841-9458-F2A9B8FD0F9F}" type="slidenum">
              <a:rPr altLang="en-US" sz="1800" smtClean="0"/>
              <a:pPr/>
              <a:t>28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532628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896D445-2E28-4092-91E0-F941B8720C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7DA99EF0-3E01-40FC-831D-277A284E78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48E2F78B-0614-4C56-9717-6BBBF9B01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3F2E4CB-B4E3-4841-9458-F2A9B8FD0F9F}" type="slidenum">
              <a:rPr altLang="en-US" sz="1800" smtClean="0"/>
              <a:pPr/>
              <a:t>29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590085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79BFB40D-4785-448A-AD11-02E00B19A97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30AD435A-E91F-4071-9D87-48BACA137CE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612BF128-89D8-4434-A49B-D8FEE28C8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D06F60B-876B-4E92-9ABF-68D146056F0E}" type="slidenum">
              <a:rPr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595E1B30-FBA9-4718-82AD-0B848F762FB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6088FA98-DCA3-48EB-9448-2BD201D7D8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8F01DB0D-19D0-4C32-AE66-80DFBD6067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1FBEC30-7C0E-4E3A-B4A3-D9C0592EAA4B}" type="slidenum">
              <a:rPr altLang="en-US" smtClean="0"/>
              <a:pPr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29A4CA82-7F1A-4569-AC39-E98DB603FFF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1E972969-4779-416B-B909-0CAD0C347C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687E0D66-3571-40FF-A8C8-FDE007FFF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D86E65-9FA9-46CD-9B9D-E2DD532EFDB7}" type="slidenum">
              <a:rPr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45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F8C75D46-EB0F-436B-A08D-230A8A92BF4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1DA018C4-3F9A-49C9-AD64-0A7BB46A69F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083654B7-3E68-4B5C-809D-A5A4371EA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F622EFC-D236-43A0-A45B-EFC2D1C58B3D}" type="slidenum">
              <a:rPr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753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F8C75D46-EB0F-436B-A08D-230A8A92BF4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1DA018C4-3F9A-49C9-AD64-0A7BB46A69F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083654B7-3E68-4B5C-809D-A5A4371EA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F622EFC-D236-43A0-A45B-EFC2D1C58B3D}" type="slidenum">
              <a:rPr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964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40289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32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335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6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781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406099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316060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86884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402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7367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F8D91FFE-8D14-92DF-853D-BD4509B509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5052" y="2526861"/>
            <a:ext cx="879475" cy="786140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Heavy"/>
                <a:ea typeface="阿里巴巴普惠体 Heavy"/>
                <a:cs typeface="+mn-cs"/>
              </a:rPr>
              <a:t>1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Heavy"/>
              <a:ea typeface="阿里巴巴普惠体 Heavy"/>
              <a:cs typeface="+mn-cs"/>
            </a:endParaRP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2241443" y="2409978"/>
            <a:ext cx="2167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5378" y="1900229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目录样式</a:t>
            </a:r>
            <a:endParaRPr lang="en-US" altLang="zh-CN" dirty="0"/>
          </a:p>
          <a:p>
            <a:pPr lvl="0"/>
            <a:r>
              <a:rPr lang="zh-CN" altLang="en-US" dirty="0"/>
              <a:t>目录样式</a:t>
            </a:r>
            <a:endParaRPr lang="en-US" altLang="zh-CN" dirty="0"/>
          </a:p>
          <a:p>
            <a:pPr lvl="0"/>
            <a:r>
              <a:rPr lang="zh-CN" altLang="en-US" dirty="0"/>
              <a:t>目录样式</a:t>
            </a:r>
            <a:endParaRPr lang="en-US" altLang="zh-CN" dirty="0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2089175" y="3046558"/>
            <a:ext cx="2319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面向对象编程</a:t>
            </a: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79" r:id="rId7"/>
    <p:sldLayoutId id="2147483689" r:id="rId8"/>
    <p:sldLayoutId id="2147483690" r:id="rId9"/>
    <p:sldLayoutId id="2147483692" r:id="rId10"/>
    <p:sldLayoutId id="2147483693" r:id="rId11"/>
    <p:sldLayoutId id="2147483698" r:id="rId12"/>
    <p:sldLayoutId id="2147483700" r:id="rId13"/>
    <p:sldLayoutId id="2147483702" r:id="rId14"/>
    <p:sldLayoutId id="214748370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9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201422" y="3086317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436308" y="1588655"/>
            <a:ext cx="3362010" cy="336201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4AA78795-269A-E803-C34E-18D7E9057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面向对象高级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E6C8CFA-3E1E-1E87-69C7-2C0A3B057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3136" y="3295948"/>
            <a:ext cx="5362864" cy="563562"/>
          </a:xfrm>
        </p:spPr>
        <p:txBody>
          <a:bodyPr/>
          <a:lstStyle/>
          <a:p>
            <a:r>
              <a:rPr lang="en-US" altLang="zh-CN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  <a:r>
              <a: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、单例类、枚举类、抽象类、接口</a:t>
            </a:r>
          </a:p>
        </p:txBody>
      </p:sp>
    </p:spTree>
    <p:extLst>
      <p:ext uri="{BB962C8B-B14F-4D97-AF65-F5344CB8AC3E}">
        <p14:creationId xmlns:p14="http://schemas.microsoft.com/office/powerpoint/2010/main" val="393193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3001837-33D5-F1D5-9838-E8D59A82DE72}"/>
              </a:ext>
            </a:extLst>
          </p:cNvPr>
          <p:cNvSpPr txBox="1"/>
          <p:nvPr/>
        </p:nvSpPr>
        <p:spPr>
          <a:xfrm>
            <a:off x="5783162" y="1307824"/>
            <a:ext cx="4655128" cy="8969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1523962" lvl="2">
              <a:lnSpc>
                <a:spcPct val="200000"/>
              </a:lnSpc>
            </a:pPr>
            <a:r>
              <a:rPr kumimoji="1" lang="zh-CN" altLang="en-US" sz="14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</a:t>
            </a:r>
            <a:r>
              <a:rPr kumimoji="1" lang="en-US" altLang="zh-CN" sz="14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  <a:r>
              <a:rPr kumimoji="1" lang="zh-CN" altLang="en-US" sz="14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</a:t>
            </a:r>
            <a:endParaRPr kumimoji="1" lang="en-US" altLang="zh-CN" sz="14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23962" lvl="2">
              <a:lnSpc>
                <a:spcPct val="200000"/>
              </a:lnSpc>
            </a:pPr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常量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18717" y="2112928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515387" y="1307824"/>
            <a:ext cx="1429361" cy="1023375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33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8F0AA8-2DEC-4E66-84EB-3D25A24774BC}"/>
              </a:ext>
            </a:extLst>
          </p:cNvPr>
          <p:cNvSpPr txBox="1"/>
          <p:nvPr/>
        </p:nvSpPr>
        <p:spPr>
          <a:xfrm>
            <a:off x="576196" y="845535"/>
            <a:ext cx="9895158" cy="396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关键字是最终的意思，可以修饰：类、方法、变量。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8131" indent="-358131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修饰类：该类被称为最终类，特点是不能被继承了。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8131" indent="-358131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修饰方法：该方法被称为最终方法，特点是不能被重写了。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8131" indent="-358131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修饰变量：该变量有且仅能被赋值一次。</a:t>
            </a:r>
            <a:b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final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修饰变量的注意</a:t>
            </a:r>
          </a:p>
          <a:p>
            <a:pPr marL="358131" indent="-358131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final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修饰基本类型的变量，变量存储的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数据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不能被改变。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8131" indent="-358131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final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修饰引用类型的变量，变量存储的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地址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不能被改变，但地址所指向对象的内容是可以被改变的。</a:t>
            </a:r>
            <a:endParaRPr lang="zh-CN" altLang="en-US" sz="1600" noProof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BDABC80-6512-C860-2995-E7FA461E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认识</a:t>
            </a:r>
            <a:r>
              <a:rPr lang="en-US" altLang="zh-CN" dirty="0"/>
              <a:t>final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20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3001837-33D5-F1D5-9838-E8D59A82DE72}"/>
              </a:ext>
            </a:extLst>
          </p:cNvPr>
          <p:cNvSpPr txBox="1"/>
          <p:nvPr/>
        </p:nvSpPr>
        <p:spPr>
          <a:xfrm>
            <a:off x="5783162" y="1307824"/>
            <a:ext cx="4655128" cy="8969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1523962" lvl="2">
              <a:lnSpc>
                <a:spcPct val="200000"/>
              </a:lnSpc>
            </a:pP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</a:t>
            </a:r>
            <a:r>
              <a:rPr kumimoji="1" lang="en-US" altLang="zh-CN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</a:t>
            </a:r>
            <a:endParaRPr kumimoji="1" lang="en-US" altLang="zh-CN"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23962" lvl="2">
              <a:lnSpc>
                <a:spcPct val="20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常量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18717" y="2112928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515387" y="1307824"/>
            <a:ext cx="1429361" cy="1023375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40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Box 2">
            <a:extLst>
              <a:ext uri="{FF2B5EF4-FFF2-40B4-BE49-F238E27FC236}">
                <a16:creationId xmlns:a16="http://schemas.microsoft.com/office/drawing/2014/main" id="{F73F4D34-57AC-4B6A-9398-887DF124C5CF}"/>
              </a:ext>
            </a:extLst>
          </p:cNvPr>
          <p:cNvSpPr txBox="1"/>
          <p:nvPr/>
        </p:nvSpPr>
        <p:spPr>
          <a:xfrm>
            <a:off x="636046" y="983142"/>
            <a:ext cx="8139825" cy="7892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使用了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static final 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修饰的成员变量就被称为常量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.</a:t>
            </a:r>
          </a:p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作用：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常用于记录系统的配置信息。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1E0938-4A8E-4959-95CC-36142992E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209" y="2075845"/>
            <a:ext cx="4345791" cy="1174424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+mn-ea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Constant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+mn-ea"/>
              </a:rPr>
              <a:t>public static final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String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+mn-ea"/>
              </a:rPr>
              <a:t>SCHOOL_NAME </a:t>
            </a:r>
            <a:r>
              <a:rPr kumimoji="0" lang="en-US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+mn-ea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+mn-ea"/>
              </a:rPr>
              <a:t>“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+mn-ea"/>
              </a:rPr>
              <a:t>传智教育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+mn-ea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</a:rPr>
            </a:br>
            <a:endParaRPr lang="en-US" altLang="zh-CN" sz="1200" dirty="0">
              <a:solidFill>
                <a:srgbClr val="080808"/>
              </a:solidFill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</a:rPr>
              <a:t>}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D87565-74F8-4724-8F93-7AAB4E5AFEB3}"/>
              </a:ext>
            </a:extLst>
          </p:cNvPr>
          <p:cNvSpPr txBox="1"/>
          <p:nvPr/>
        </p:nvSpPr>
        <p:spPr>
          <a:xfrm>
            <a:off x="636046" y="4378649"/>
            <a:ext cx="6318427" cy="13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代码可读性更好，可维护性也更好。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程序编译后，常量会被“宏替换”：出现常量的地方全部会被替换成其记住的字面量，这样可以保证使用常量和直接用字面量的性能是一样的。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64910E-2AAA-4C27-929B-6899DE73543F}"/>
              </a:ext>
            </a:extLst>
          </p:cNvPr>
          <p:cNvSpPr txBox="1"/>
          <p:nvPr/>
        </p:nvSpPr>
        <p:spPr>
          <a:xfrm>
            <a:off x="636046" y="3951544"/>
            <a:ext cx="7812769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使用常量记录系统配置信息的优势、执行原理</a:t>
            </a:r>
            <a:endParaRPr lang="en-US" altLang="zh-CN" sz="1600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987BD5-1038-44FF-851A-D532A29B5A69}"/>
              </a:ext>
            </a:extLst>
          </p:cNvPr>
          <p:cNvSpPr txBox="1"/>
          <p:nvPr/>
        </p:nvSpPr>
        <p:spPr>
          <a:xfrm>
            <a:off x="734209" y="3274048"/>
            <a:ext cx="5826723" cy="412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注意！常量名的命名规范：建议使用大写英文单词，多个单词使用下划线连接起来。</a:t>
            </a:r>
            <a:endParaRPr lang="en-US" altLang="zh-CN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AB30CDA-981A-56FF-526B-7A2EA9B0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</a:t>
            </a:r>
          </a:p>
        </p:txBody>
      </p:sp>
    </p:spTree>
    <p:extLst>
      <p:ext uri="{BB962C8B-B14F-4D97-AF65-F5344CB8AC3E}">
        <p14:creationId xmlns:p14="http://schemas.microsoft.com/office/powerpoint/2010/main" val="416650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8026" y="1878778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单例类（设计模式）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ABBA34A-E7C8-A8E2-0C25-F7C679F14B90}"/>
              </a:ext>
            </a:extLst>
          </p:cNvPr>
          <p:cNvGrpSpPr/>
          <p:nvPr/>
        </p:nvGrpSpPr>
        <p:grpSpPr>
          <a:xfrm>
            <a:off x="8140970" y="2390862"/>
            <a:ext cx="938271" cy="367016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" name="圆角矩形 10">
              <a:extLst>
                <a:ext uri="{FF2B5EF4-FFF2-40B4-BE49-F238E27FC236}">
                  <a16:creationId xmlns:a16="http://schemas.microsoft.com/office/drawing/2014/main" id="{5FF3311E-69EA-2784-0F5B-1631C0EA7678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5" name="圆角矩形 11">
              <a:extLst>
                <a:ext uri="{FF2B5EF4-FFF2-40B4-BE49-F238E27FC236}">
                  <a16:creationId xmlns:a16="http://schemas.microsoft.com/office/drawing/2014/main" id="{C38626F3-87C3-D2B2-AAD2-9DE23D9C28AD}"/>
                </a:ext>
              </a:extLst>
            </p:cNvPr>
            <p:cNvSpPr/>
            <p:nvPr/>
          </p:nvSpPr>
          <p:spPr>
            <a:xfrm>
              <a:off x="4351930" y="1367700"/>
              <a:ext cx="3742170" cy="259572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</a:rPr>
                <a:t>面试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F079CA7-565C-6C0B-2F12-7489DC36D1A0}"/>
              </a:ext>
            </a:extLst>
          </p:cNvPr>
          <p:cNvGrpSpPr/>
          <p:nvPr/>
        </p:nvGrpSpPr>
        <p:grpSpPr>
          <a:xfrm>
            <a:off x="8771415" y="1845730"/>
            <a:ext cx="938271" cy="367016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" name="圆角矩形 10">
              <a:extLst>
                <a:ext uri="{FF2B5EF4-FFF2-40B4-BE49-F238E27FC236}">
                  <a16:creationId xmlns:a16="http://schemas.microsoft.com/office/drawing/2014/main" id="{BDAC9308-2E52-A7C2-1F9D-F7273958F235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8D52D0E5-CF79-8B29-2C06-DF01BE63DDA3}"/>
                </a:ext>
              </a:extLst>
            </p:cNvPr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</a:rPr>
                <a:t>架构师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1F01BDA-A18D-2BA3-A944-9B08610BF9A9}"/>
              </a:ext>
            </a:extLst>
          </p:cNvPr>
          <p:cNvGrpSpPr/>
          <p:nvPr/>
        </p:nvGrpSpPr>
        <p:grpSpPr>
          <a:xfrm>
            <a:off x="9296421" y="2380077"/>
            <a:ext cx="938271" cy="367016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0" name="圆角矩形 10">
              <a:extLst>
                <a:ext uri="{FF2B5EF4-FFF2-40B4-BE49-F238E27FC236}">
                  <a16:creationId xmlns:a16="http://schemas.microsoft.com/office/drawing/2014/main" id="{ECDFAB66-F776-F6D6-E5E2-BF97FCDFBE5E}"/>
                </a:ext>
              </a:extLst>
            </p:cNvPr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11" name="圆角矩形 11">
              <a:extLst>
                <a:ext uri="{FF2B5EF4-FFF2-40B4-BE49-F238E27FC236}">
                  <a16:creationId xmlns:a16="http://schemas.microsoft.com/office/drawing/2014/main" id="{6775A356-DEE1-E335-FCA4-2B09818F4BD5}"/>
                </a:ext>
              </a:extLst>
            </p:cNvPr>
            <p:cNvSpPr/>
            <p:nvPr/>
          </p:nvSpPr>
          <p:spPr>
            <a:xfrm>
              <a:off x="4351930" y="1367700"/>
              <a:ext cx="3742170" cy="259572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</a:rPr>
                <a:t>源码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086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C106626-79E1-4E8B-9D63-F5A9BD3AEBAA}"/>
              </a:ext>
            </a:extLst>
          </p:cNvPr>
          <p:cNvSpPr txBox="1"/>
          <p:nvPr/>
        </p:nvSpPr>
        <p:spPr>
          <a:xfrm>
            <a:off x="651411" y="828740"/>
            <a:ext cx="10260898" cy="1227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一个问题通常有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种解法，其中肯定有一种解法是最优的，这个最优的解法被人总结出来了，称之为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设计模式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设计模式有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多种，对应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多种软件开发中会遇到的问题。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Freeform 68">
            <a:extLst>
              <a:ext uri="{FF2B5EF4-FFF2-40B4-BE49-F238E27FC236}">
                <a16:creationId xmlns:a16="http://schemas.microsoft.com/office/drawing/2014/main" id="{D414C0B5-5DAA-C1B7-D2AC-D3E33DAB0A9C}"/>
              </a:ext>
            </a:extLst>
          </p:cNvPr>
          <p:cNvSpPr/>
          <p:nvPr/>
        </p:nvSpPr>
        <p:spPr>
          <a:xfrm>
            <a:off x="1642827" y="3359554"/>
            <a:ext cx="1768272" cy="575737"/>
          </a:xfrm>
          <a:custGeom>
            <a:avLst/>
            <a:gdLst>
              <a:gd name="connsiteX0" fmla="*/ 131527 w 789146"/>
              <a:gd name="connsiteY0" fmla="*/ 0 h 2110763"/>
              <a:gd name="connsiteX1" fmla="*/ 657619 w 789146"/>
              <a:gd name="connsiteY1" fmla="*/ 0 h 2110763"/>
              <a:gd name="connsiteX2" fmla="*/ 750623 w 789146"/>
              <a:gd name="connsiteY2" fmla="*/ 38524 h 2110763"/>
              <a:gd name="connsiteX3" fmla="*/ 789146 w 789146"/>
              <a:gd name="connsiteY3" fmla="*/ 131528 h 2110763"/>
              <a:gd name="connsiteX4" fmla="*/ 789146 w 789146"/>
              <a:gd name="connsiteY4" fmla="*/ 2110763 h 2110763"/>
              <a:gd name="connsiteX5" fmla="*/ 789146 w 789146"/>
              <a:gd name="connsiteY5" fmla="*/ 2110763 h 2110763"/>
              <a:gd name="connsiteX6" fmla="*/ 789146 w 789146"/>
              <a:gd name="connsiteY6" fmla="*/ 2110763 h 2110763"/>
              <a:gd name="connsiteX7" fmla="*/ 0 w 789146"/>
              <a:gd name="connsiteY7" fmla="*/ 2110763 h 2110763"/>
              <a:gd name="connsiteX8" fmla="*/ 0 w 789146"/>
              <a:gd name="connsiteY8" fmla="*/ 2110763 h 2110763"/>
              <a:gd name="connsiteX9" fmla="*/ 0 w 789146"/>
              <a:gd name="connsiteY9" fmla="*/ 2110763 h 2110763"/>
              <a:gd name="connsiteX10" fmla="*/ 0 w 789146"/>
              <a:gd name="connsiteY10" fmla="*/ 131527 h 2110763"/>
              <a:gd name="connsiteX11" fmla="*/ 38524 w 789146"/>
              <a:gd name="connsiteY11" fmla="*/ 38523 h 2110763"/>
              <a:gd name="connsiteX12" fmla="*/ 131528 w 789146"/>
              <a:gd name="connsiteY12" fmla="*/ 0 h 2110763"/>
              <a:gd name="connsiteX13" fmla="*/ 131527 w 789146"/>
              <a:gd name="connsiteY13" fmla="*/ 0 h 2110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89146" h="2110763">
                <a:moveTo>
                  <a:pt x="789146" y="351802"/>
                </a:moveTo>
                <a:lnTo>
                  <a:pt x="789146" y="1758961"/>
                </a:lnTo>
                <a:cubicBezTo>
                  <a:pt x="789146" y="1852264"/>
                  <a:pt x="783965" y="1941748"/>
                  <a:pt x="774743" y="2007723"/>
                </a:cubicBezTo>
                <a:cubicBezTo>
                  <a:pt x="765521" y="2073698"/>
                  <a:pt x="753013" y="2110762"/>
                  <a:pt x="739972" y="2110762"/>
                </a:cubicBezTo>
                <a:lnTo>
                  <a:pt x="0" y="2110762"/>
                </a:lnTo>
                <a:lnTo>
                  <a:pt x="0" y="2110762"/>
                </a:lnTo>
                <a:lnTo>
                  <a:pt x="0" y="2110762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739972" y="1"/>
                </a:lnTo>
                <a:cubicBezTo>
                  <a:pt x="753014" y="1"/>
                  <a:pt x="765522" y="37065"/>
                  <a:pt x="774743" y="103043"/>
                </a:cubicBezTo>
                <a:cubicBezTo>
                  <a:pt x="783965" y="169018"/>
                  <a:pt x="789146" y="258502"/>
                  <a:pt x="789146" y="351805"/>
                </a:cubicBezTo>
                <a:lnTo>
                  <a:pt x="789146" y="351802"/>
                </a:lnTo>
                <a:close/>
              </a:path>
            </a:pathLst>
          </a:custGeom>
          <a:solidFill>
            <a:schemeClr val="tx1">
              <a:lumMod val="10000"/>
              <a:lumOff val="9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8620" tIns="69990" rIns="69990" bIns="69992" numCol="1" spcCol="1270" anchor="ctr" anchorCtr="0">
            <a:noAutofit/>
          </a:bodyPr>
          <a:lstStyle/>
          <a:p>
            <a:pPr marL="0" lvl="1" defTabSz="1374775">
              <a:lnSpc>
                <a:spcPct val="120000"/>
              </a:lnSpc>
              <a:spcAft>
                <a:spcPct val="15000"/>
              </a:spcAft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解决什么问题？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Rounded Rectangle 67">
            <a:extLst>
              <a:ext uri="{FF2B5EF4-FFF2-40B4-BE49-F238E27FC236}">
                <a16:creationId xmlns:a16="http://schemas.microsoft.com/office/drawing/2014/main" id="{E254D4BB-F856-3C39-F11E-8AFFFAA3833E}"/>
              </a:ext>
            </a:extLst>
          </p:cNvPr>
          <p:cNvSpPr/>
          <p:nvPr/>
        </p:nvSpPr>
        <p:spPr>
          <a:xfrm>
            <a:off x="726901" y="3344668"/>
            <a:ext cx="971214" cy="60745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1437005">
              <a:lnSpc>
                <a:spcPct val="120000"/>
              </a:lnSpc>
              <a:spcAft>
                <a:spcPct val="35000"/>
              </a:spcAft>
            </a:pPr>
            <a:r>
              <a:rPr lang="en-US" sz="1895" dirty="0">
                <a:ea typeface="inpin heiti" charset="-122"/>
                <a:cs typeface="+mn-ea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29" name="Freeform 68">
            <a:extLst>
              <a:ext uri="{FF2B5EF4-FFF2-40B4-BE49-F238E27FC236}">
                <a16:creationId xmlns:a16="http://schemas.microsoft.com/office/drawing/2014/main" id="{2A741143-17ED-22EF-BC60-2161889B3BDA}"/>
              </a:ext>
            </a:extLst>
          </p:cNvPr>
          <p:cNvSpPr/>
          <p:nvPr/>
        </p:nvSpPr>
        <p:spPr>
          <a:xfrm>
            <a:off x="5317205" y="3342726"/>
            <a:ext cx="1768272" cy="575737"/>
          </a:xfrm>
          <a:custGeom>
            <a:avLst/>
            <a:gdLst>
              <a:gd name="connsiteX0" fmla="*/ 131527 w 789146"/>
              <a:gd name="connsiteY0" fmla="*/ 0 h 2110763"/>
              <a:gd name="connsiteX1" fmla="*/ 657619 w 789146"/>
              <a:gd name="connsiteY1" fmla="*/ 0 h 2110763"/>
              <a:gd name="connsiteX2" fmla="*/ 750623 w 789146"/>
              <a:gd name="connsiteY2" fmla="*/ 38524 h 2110763"/>
              <a:gd name="connsiteX3" fmla="*/ 789146 w 789146"/>
              <a:gd name="connsiteY3" fmla="*/ 131528 h 2110763"/>
              <a:gd name="connsiteX4" fmla="*/ 789146 w 789146"/>
              <a:gd name="connsiteY4" fmla="*/ 2110763 h 2110763"/>
              <a:gd name="connsiteX5" fmla="*/ 789146 w 789146"/>
              <a:gd name="connsiteY5" fmla="*/ 2110763 h 2110763"/>
              <a:gd name="connsiteX6" fmla="*/ 789146 w 789146"/>
              <a:gd name="connsiteY6" fmla="*/ 2110763 h 2110763"/>
              <a:gd name="connsiteX7" fmla="*/ 0 w 789146"/>
              <a:gd name="connsiteY7" fmla="*/ 2110763 h 2110763"/>
              <a:gd name="connsiteX8" fmla="*/ 0 w 789146"/>
              <a:gd name="connsiteY8" fmla="*/ 2110763 h 2110763"/>
              <a:gd name="connsiteX9" fmla="*/ 0 w 789146"/>
              <a:gd name="connsiteY9" fmla="*/ 2110763 h 2110763"/>
              <a:gd name="connsiteX10" fmla="*/ 0 w 789146"/>
              <a:gd name="connsiteY10" fmla="*/ 131527 h 2110763"/>
              <a:gd name="connsiteX11" fmla="*/ 38524 w 789146"/>
              <a:gd name="connsiteY11" fmla="*/ 38523 h 2110763"/>
              <a:gd name="connsiteX12" fmla="*/ 131528 w 789146"/>
              <a:gd name="connsiteY12" fmla="*/ 0 h 2110763"/>
              <a:gd name="connsiteX13" fmla="*/ 131527 w 789146"/>
              <a:gd name="connsiteY13" fmla="*/ 0 h 2110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89146" h="2110763">
                <a:moveTo>
                  <a:pt x="789146" y="351802"/>
                </a:moveTo>
                <a:lnTo>
                  <a:pt x="789146" y="1758961"/>
                </a:lnTo>
                <a:cubicBezTo>
                  <a:pt x="789146" y="1852264"/>
                  <a:pt x="783965" y="1941748"/>
                  <a:pt x="774743" y="2007723"/>
                </a:cubicBezTo>
                <a:cubicBezTo>
                  <a:pt x="765521" y="2073698"/>
                  <a:pt x="753013" y="2110762"/>
                  <a:pt x="739972" y="2110762"/>
                </a:cubicBezTo>
                <a:lnTo>
                  <a:pt x="0" y="2110762"/>
                </a:lnTo>
                <a:lnTo>
                  <a:pt x="0" y="2110762"/>
                </a:lnTo>
                <a:lnTo>
                  <a:pt x="0" y="2110762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739972" y="1"/>
                </a:lnTo>
                <a:cubicBezTo>
                  <a:pt x="753014" y="1"/>
                  <a:pt x="765522" y="37065"/>
                  <a:pt x="774743" y="103043"/>
                </a:cubicBezTo>
                <a:cubicBezTo>
                  <a:pt x="783965" y="169018"/>
                  <a:pt x="789146" y="258502"/>
                  <a:pt x="789146" y="351805"/>
                </a:cubicBezTo>
                <a:lnTo>
                  <a:pt x="789146" y="351802"/>
                </a:lnTo>
                <a:close/>
              </a:path>
            </a:pathLst>
          </a:custGeom>
          <a:solidFill>
            <a:schemeClr val="tx1">
              <a:lumMod val="10000"/>
              <a:lumOff val="9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8620" tIns="69990" rIns="69990" bIns="69992" numCol="1" spcCol="1270" anchor="ctr" anchorCtr="0">
            <a:noAutofit/>
          </a:bodyPr>
          <a:lstStyle/>
          <a:p>
            <a:pPr marL="0" lvl="1" defTabSz="1374775">
              <a:lnSpc>
                <a:spcPct val="120000"/>
              </a:lnSpc>
              <a:spcAft>
                <a:spcPct val="15000"/>
              </a:spcAft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怎么写？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Rounded Rectangle 67">
            <a:extLst>
              <a:ext uri="{FF2B5EF4-FFF2-40B4-BE49-F238E27FC236}">
                <a16:creationId xmlns:a16="http://schemas.microsoft.com/office/drawing/2014/main" id="{209409A3-DC9F-7CCC-A6A4-33C168A7AE93}"/>
              </a:ext>
            </a:extLst>
          </p:cNvPr>
          <p:cNvSpPr/>
          <p:nvPr/>
        </p:nvSpPr>
        <p:spPr>
          <a:xfrm>
            <a:off x="4401280" y="3327840"/>
            <a:ext cx="971214" cy="60745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1437005">
              <a:lnSpc>
                <a:spcPct val="120000"/>
              </a:lnSpc>
              <a:spcAft>
                <a:spcPct val="35000"/>
              </a:spcAft>
            </a:pPr>
            <a:r>
              <a:rPr lang="en-US" sz="1895" dirty="0">
                <a:ea typeface="inpin heiti" charset="-122"/>
                <a:cs typeface="+mn-ea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373B040-B99B-78A0-56C6-69C13E591DC1}"/>
              </a:ext>
            </a:extLst>
          </p:cNvPr>
          <p:cNvSpPr txBox="1"/>
          <p:nvPr/>
        </p:nvSpPr>
        <p:spPr>
          <a:xfrm>
            <a:off x="651411" y="2224381"/>
            <a:ext cx="6123214" cy="676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关于设计模式，主要学什么？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FD8D98-FC70-1B36-1BD4-0E91F1E4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什么是设计模式？</a:t>
            </a:r>
          </a:p>
        </p:txBody>
      </p:sp>
    </p:spTree>
    <p:extLst>
      <p:ext uri="{BB962C8B-B14F-4D97-AF65-F5344CB8AC3E}">
        <p14:creationId xmlns:p14="http://schemas.microsoft.com/office/powerpoint/2010/main" val="225293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28" grpId="0" animBg="1"/>
      <p:bldP spid="29" grpId="0" bldLvl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957584-705F-4484-9F7F-739FAF337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046" y="892759"/>
            <a:ext cx="4615015" cy="519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作用：确保某个类只能创建一个对象。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94685E-836E-7A45-9B5E-F896273B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单例设计模式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34DB37-7E21-3075-8529-7850338D8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6" y="1759521"/>
            <a:ext cx="5981216" cy="28041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1991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957584-705F-4484-9F7F-739FAF337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046" y="892759"/>
            <a:ext cx="4615015" cy="519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作用：确保某个类只能创建一个对象。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776A1E-AB21-5750-F4A5-2247E2BA7D68}"/>
              </a:ext>
            </a:extLst>
          </p:cNvPr>
          <p:cNvSpPr txBox="1"/>
          <p:nvPr/>
        </p:nvSpPr>
        <p:spPr>
          <a:xfrm>
            <a:off x="576196" y="1676598"/>
            <a:ext cx="4288403" cy="2458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20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写法，实现步骤：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把类的构造器私有。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定义一个静态变量记住类的一个对象。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定义一个静态方法，返回对象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92FE78E-301A-116B-5A96-195C0DD5F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711" y="1987936"/>
            <a:ext cx="3242384" cy="3459601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05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// </a:t>
            </a:r>
            <a:r>
              <a:rPr lang="zh-CN" altLang="en-US" sz="105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单例类</a:t>
            </a:r>
            <a:endParaRPr kumimoji="0" lang="en-US" altLang="zh-CN" sz="105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2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、定义一个</a:t>
            </a:r>
            <a:r>
              <a:rPr kumimoji="0" lang="zh-CN" altLang="en-US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静态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变量记住类的一个对象</a:t>
            </a:r>
            <a:b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static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endParaRPr kumimoji="0" lang="en-US" altLang="zh-CN" sz="105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1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、私有构造器</a:t>
            </a:r>
            <a:b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endParaRPr kumimoji="0" lang="en-US" altLang="zh-CN" sz="105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3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、定义一个</a:t>
            </a:r>
            <a:r>
              <a:rPr kumimoji="0" lang="zh-CN" altLang="en-US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静态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方法返回对象</a:t>
            </a:r>
            <a:b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</a:t>
            </a: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Object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en-US" altLang="zh-CN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94685E-836E-7A45-9B5E-F896273B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单例设计模式</a:t>
            </a:r>
          </a:p>
        </p:txBody>
      </p:sp>
    </p:spTree>
    <p:extLst>
      <p:ext uri="{BB962C8B-B14F-4D97-AF65-F5344CB8AC3E}">
        <p14:creationId xmlns:p14="http://schemas.microsoft.com/office/powerpoint/2010/main" val="2431939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C106626-79E1-4E8B-9D63-F5A9BD3AEBAA}"/>
              </a:ext>
            </a:extLst>
          </p:cNvPr>
          <p:cNvSpPr txBox="1"/>
          <p:nvPr/>
        </p:nvSpPr>
        <p:spPr>
          <a:xfrm>
            <a:off x="576196" y="947593"/>
            <a:ext cx="4548808" cy="307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饿汉式单例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：拿对象时，对象早就创建好了。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懒汉式单例：拿对象时，才开始创建对象。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92FE78E-301A-116B-5A96-195C0DD5F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705" y="1146103"/>
            <a:ext cx="3197141" cy="2606739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2</a:t>
            </a: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、定义一个类变量记住类的一个对象</a:t>
            </a:r>
            <a:b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static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1</a:t>
            </a: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、私有构造器</a:t>
            </a:r>
            <a:b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3</a:t>
            </a: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、定义一个类方法返回对象</a:t>
            </a:r>
            <a:b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Object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en-US" altLang="zh-CN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8E0A6C6-2398-8DB5-EBBD-0A49569B1B96}"/>
              </a:ext>
            </a:extLst>
          </p:cNvPr>
          <p:cNvCxnSpPr>
            <a:cxnSpLocks/>
          </p:cNvCxnSpPr>
          <p:nvPr/>
        </p:nvCxnSpPr>
        <p:spPr>
          <a:xfrm>
            <a:off x="5351070" y="1381041"/>
            <a:ext cx="119774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3B91D66-D4D3-10DF-F2B9-B1C32069AECD}"/>
              </a:ext>
            </a:extLst>
          </p:cNvPr>
          <p:cNvSpPr/>
          <p:nvPr/>
        </p:nvSpPr>
        <p:spPr>
          <a:xfrm>
            <a:off x="899380" y="1185108"/>
            <a:ext cx="4433391" cy="391867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3FAE47E-18B4-FBEB-6D61-24F65155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单例类有很多形式</a:t>
            </a:r>
          </a:p>
        </p:txBody>
      </p:sp>
    </p:spTree>
    <p:extLst>
      <p:ext uri="{BB962C8B-B14F-4D97-AF65-F5344CB8AC3E}">
        <p14:creationId xmlns:p14="http://schemas.microsoft.com/office/powerpoint/2010/main" val="1374894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7A685B-F94D-194F-BA07-9413F6ABF7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513247" cy="3962399"/>
          </a:xfrm>
        </p:spPr>
        <p:txBody>
          <a:bodyPr/>
          <a:lstStyle/>
          <a:p>
            <a:pPr>
              <a:lnSpc>
                <a:spcPts val="3600"/>
              </a:lnSpc>
            </a:pPr>
            <a:r>
              <a:rPr lang="zh-CN" altLang="en-US" sz="1600" dirty="0"/>
              <a:t>什么是设计模式，设计模式主要学什么 </a:t>
            </a:r>
            <a:r>
              <a:rPr lang="en-US" altLang="zh-CN" sz="1600" dirty="0"/>
              <a:t>?  </a:t>
            </a:r>
            <a:r>
              <a:rPr lang="zh-CN" altLang="en-US" sz="1600" dirty="0"/>
              <a:t>单例模式解决了什么问题 ？</a:t>
            </a:r>
            <a:endParaRPr lang="en-US" altLang="zh-CN" sz="1600" dirty="0"/>
          </a:p>
          <a:p>
            <a:pPr marL="552435" lvl="1" indent="-285750">
              <a:lnSpc>
                <a:spcPts val="36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具体问题的最优解决方案。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ts val="36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解决了什么问题？ 怎么写？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ts val="36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确保某个类只能创建一个对象。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6685" lvl="1">
              <a:defRPr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/>
              <a:t>单例怎么写</a:t>
            </a:r>
            <a:r>
              <a:rPr lang="en-US" altLang="zh-CN" sz="1600" dirty="0"/>
              <a:t>? </a:t>
            </a:r>
            <a:r>
              <a:rPr lang="zh-CN" altLang="en-US" sz="1600" dirty="0"/>
              <a:t>饿汉式单例的特点是什么？</a:t>
            </a:r>
            <a:endParaRPr lang="en-US" altLang="zh-CN" sz="1600" dirty="0"/>
          </a:p>
          <a:p>
            <a:pPr marL="552435" lvl="1" indent="-285750">
              <a:lnSpc>
                <a:spcPts val="36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把类的构造器私有；定义一个静态变量存储类的一个对象；提供一个静态方法返回对象。</a:t>
            </a:r>
          </a:p>
          <a:p>
            <a:pPr marL="552435" lvl="1" indent="-285750">
              <a:lnSpc>
                <a:spcPts val="36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在获取类的对象时，对象已经创建好了。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buFont typeface="Wingdings" panose="05000000000000000000" pitchFamily="2" charset="2"/>
              <a:buChar char="l"/>
              <a:defRPr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/>
              <a:t>单例有啥应用场景，有啥好处？</a:t>
            </a:r>
            <a:endParaRPr lang="en-US" altLang="zh-CN" sz="1600" dirty="0"/>
          </a:p>
          <a:p>
            <a:pPr marL="552435" lvl="1" indent="-285750">
              <a:lnSpc>
                <a:spcPts val="36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任务管理器对象、获取运行时对象。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ts val="36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在这些业务场景下，使用单例模式，可以避免浪费内存。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472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045CA9E7-B31B-42B8-A6A4-3DB3B2109FC8}"/>
              </a:ext>
            </a:extLst>
          </p:cNvPr>
          <p:cNvSpPr txBox="1"/>
          <p:nvPr/>
        </p:nvSpPr>
        <p:spPr>
          <a:xfrm>
            <a:off x="576196" y="881325"/>
            <a:ext cx="4639913" cy="322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用对象时，才开始创建对象。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50000"/>
              </a:lnSpc>
              <a:defRPr/>
            </a:pPr>
            <a:r>
              <a:rPr lang="zh-CN" altLang="en-US" sz="20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写法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把类的构造器私有。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定义一个静态变量用于存储对象。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提供一个静态方法，保证返回的是同一个对象。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D6B172-C4E1-48BA-8C96-943E99FF0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339" y="1320185"/>
            <a:ext cx="3368715" cy="4217629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B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// 2</a:t>
            </a: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、定义一个类变量量用于存储对象</a:t>
            </a:r>
            <a:b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static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B 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b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 </a:t>
            </a: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// null</a:t>
            </a:r>
            <a:b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    // 1</a:t>
            </a: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、单例必须私有构造器</a:t>
            </a:r>
            <a:b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B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// 3</a:t>
            </a: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、提供一个类方法返回类的一个对象</a:t>
            </a:r>
            <a:b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B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getObject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if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b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null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    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b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B();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b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}</a:t>
            </a:r>
            <a:endParaRPr lang="zh-CN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E7585AA-7565-A231-9C88-01736814F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懒汉式单例类</a:t>
            </a:r>
          </a:p>
        </p:txBody>
      </p:sp>
    </p:spTree>
    <p:extLst>
      <p:ext uri="{BB962C8B-B14F-4D97-AF65-F5344CB8AC3E}">
        <p14:creationId xmlns:p14="http://schemas.microsoft.com/office/powerpoint/2010/main" val="200065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7A685B-F94D-194F-BA07-9413F6ABF7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6" y="1583614"/>
            <a:ext cx="5392912" cy="3962399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zh-CN" altLang="en-US" sz="1800" dirty="0"/>
              <a:t>懒汉单例模式的特点是什么？</a:t>
            </a:r>
            <a:endParaRPr lang="en-US" altLang="zh-CN" sz="1800" dirty="0"/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要用类的对象时才创建对象（延迟加载对象）</a:t>
            </a:r>
            <a:endParaRPr lang="en-US" altLang="zh-CN" sz="16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1800" dirty="0"/>
              <a:t>懒汉单例模式怎么写</a:t>
            </a:r>
            <a:r>
              <a:rPr lang="en-US" altLang="zh-CN" sz="1800" dirty="0"/>
              <a:t>?</a:t>
            </a: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把构造器私有。</a:t>
            </a: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定义一个类变量用于存储对象。</a:t>
            </a: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提供一个类方法，保证返回的是同一个对象。</a:t>
            </a:r>
            <a:endParaRPr lang="en-US" altLang="zh-CN" sz="16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199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8026" y="1878778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001837-33D5-F1D5-9838-E8D59A82DE72}"/>
              </a:ext>
            </a:extLst>
          </p:cNvPr>
          <p:cNvSpPr txBox="1"/>
          <p:nvPr/>
        </p:nvSpPr>
        <p:spPr>
          <a:xfrm>
            <a:off x="6096000" y="2405625"/>
            <a:ext cx="4655128" cy="8969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1523962" lvl="2">
              <a:lnSpc>
                <a:spcPct val="200000"/>
              </a:lnSpc>
            </a:pPr>
            <a:r>
              <a:rPr kumimoji="1" lang="zh-CN" altLang="en-US" sz="14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</a:t>
            </a:r>
            <a:r>
              <a:rPr kumimoji="1"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kumimoji="1" lang="en-US" altLang="zh-CN" sz="14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23962" lvl="2">
              <a:lnSpc>
                <a:spcPct val="200000"/>
              </a:lnSpc>
            </a:pPr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枚举类的常见应用场景</a:t>
            </a: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828225" y="2405625"/>
            <a:ext cx="1429361" cy="1023375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402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9131215C-2ADD-405F-B8D3-B6AF4E92D076}"/>
              </a:ext>
            </a:extLst>
          </p:cNvPr>
          <p:cNvSpPr txBox="1"/>
          <p:nvPr/>
        </p:nvSpPr>
        <p:spPr>
          <a:xfrm>
            <a:off x="576196" y="810814"/>
            <a:ext cx="3361871" cy="1065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枚举是一种特殊类。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枚举类的写法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CB4B5455-EFAD-4ADD-9C10-49F8CF2B5FE8}"/>
              </a:ext>
            </a:extLst>
          </p:cNvPr>
          <p:cNvSpPr txBox="1"/>
          <p:nvPr/>
        </p:nvSpPr>
        <p:spPr>
          <a:xfrm>
            <a:off x="687407" y="2143854"/>
            <a:ext cx="2240620" cy="1758751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修饰符</a:t>
            </a:r>
            <a:r>
              <a:rPr lang="en-US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enum </a:t>
            </a:r>
            <a:r>
              <a:rPr lang="zh-CN" altLang="en-US" sz="1400" dirty="0">
                <a:solidFill>
                  <a:srgbClr val="0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枚举类名</a:t>
            </a:r>
            <a:r>
              <a:rPr lang="zh-CN" altLang="zh-CN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名称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1 ,  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名称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2, ... </a:t>
            </a:r>
            <a:r>
              <a:rPr lang="zh-CN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zh-CN" altLang="en-US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其他成员</a:t>
            </a:r>
            <a:r>
              <a:rPr lang="en-US" altLang="zh-CN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  <a:br>
              <a:rPr lang="zh-CN" altLang="zh-CN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C2BE7B8-F002-4A5D-BE86-96A9DE7C4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084" y="2143854"/>
            <a:ext cx="1680482" cy="1350370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Alibaba PuHuiTi R"/>
              </a:rPr>
              <a:t>public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Alibaba PuHuiTi R"/>
              </a:rPr>
              <a:t>enum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Alibaba PuHuiTi R"/>
              </a:rPr>
              <a:t>A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    </a:t>
            </a:r>
            <a:r>
              <a:rPr lang="en-US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X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, </a:t>
            </a:r>
            <a:r>
              <a:rPr lang="en-US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Y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 , </a:t>
            </a:r>
            <a:r>
              <a:rPr lang="en-US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Z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Alibaba PuHuiTi R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    ...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}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ea typeface="Alibaba PuHuiTi R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A20C3F-040F-29E7-0F07-953E29021EA3}"/>
              </a:ext>
            </a:extLst>
          </p:cNvPr>
          <p:cNvSpPr txBox="1"/>
          <p:nvPr/>
        </p:nvSpPr>
        <p:spPr>
          <a:xfrm>
            <a:off x="687407" y="4133256"/>
            <a:ext cx="6330579" cy="1842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特点：</a:t>
            </a:r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枚举类中的第一行，只能写枚举类的对象名称，且要用逗号隔开。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这些名称，本质是常量，每个常量都记住了枚举类的一个对象。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F0DE1AD-44A6-130D-AB44-99897E4E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</a:t>
            </a:r>
          </a:p>
        </p:txBody>
      </p:sp>
    </p:spTree>
    <p:extLst>
      <p:ext uri="{BB962C8B-B14F-4D97-AF65-F5344CB8AC3E}">
        <p14:creationId xmlns:p14="http://schemas.microsoft.com/office/powerpoint/2010/main" val="76010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7" grpId="0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DF07B0D8-EB0E-4C84-A0CB-1855D3518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37" y="2559670"/>
            <a:ext cx="3073400" cy="46166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40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C2BE7B8-F002-4A5D-BE86-96A9DE7C4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81" y="1146888"/>
            <a:ext cx="1622213" cy="646331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Alibaba PuHuiTi R"/>
              </a:rPr>
              <a:t>public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Alibaba PuHuiTi R"/>
              </a:rPr>
              <a:t>enum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Alibaba PuHuiTi R"/>
              </a:rPr>
              <a:t>A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    </a:t>
            </a:r>
            <a:r>
              <a:rPr lang="en-US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X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, </a:t>
            </a:r>
            <a:r>
              <a:rPr lang="en-US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Y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, </a:t>
            </a:r>
            <a:r>
              <a:rPr lang="en-US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Alibaba PuHuiTi R"/>
              </a:rPr>
              <a:t>Z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Alibaba PuHuiTi R"/>
              </a:rPr>
              <a:t>}</a:t>
            </a:r>
            <a:endParaRPr lang="zh-CN" altLang="zh-CN" sz="1200" dirty="0">
              <a:solidFill>
                <a:schemeClr val="tx1"/>
              </a:solidFill>
              <a:latin typeface="Consolas" panose="020B0609020204030204" pitchFamily="49" charset="0"/>
              <a:ea typeface="Alibaba PuHuiTi 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CDA0A8-3BB5-46FC-B880-0FD223B79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96" y="3890815"/>
            <a:ext cx="8084613" cy="17587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枚举都是最终类，不可以被继承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枚举类都是继承java.lang.Enum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类的。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枚举类的第一行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</a:t>
            </a:r>
            <a:r>
              <a:rPr lang="zh-CN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罗列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一些名称，这些名称都是常量，并且每个常量会记住枚举类的一个对象</a:t>
            </a:r>
            <a:r>
              <a:rPr lang="zh-CN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枚举类的</a:t>
            </a: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构造器都是私有的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（写不写都只能是私有的），因此，</a:t>
            </a: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r>
              <a:rPr lang="zh-CN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对外不能创建对象。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编译器为枚举类新增了几个方法。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14CEA9B-C54F-4BDA-B594-8310F368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185" y="1138074"/>
            <a:ext cx="4416368" cy="2555636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Compiled from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“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.java"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final class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extends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java.lang.Enum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&lt;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&gt;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final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X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final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Y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final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en-US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Z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values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valueOf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java.lang.String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669643-8D02-9F70-8A73-A555E0AF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枚举类的特点</a:t>
            </a:r>
          </a:p>
        </p:txBody>
      </p:sp>
    </p:spTree>
    <p:extLst>
      <p:ext uri="{BB962C8B-B14F-4D97-AF65-F5344CB8AC3E}">
        <p14:creationId xmlns:p14="http://schemas.microsoft.com/office/powerpoint/2010/main" val="149673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8026" y="1878778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001837-33D5-F1D5-9838-E8D59A82DE72}"/>
              </a:ext>
            </a:extLst>
          </p:cNvPr>
          <p:cNvSpPr txBox="1"/>
          <p:nvPr/>
        </p:nvSpPr>
        <p:spPr>
          <a:xfrm>
            <a:off x="6096000" y="2405625"/>
            <a:ext cx="4655128" cy="8969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1523962" lvl="2">
              <a:lnSpc>
                <a:spcPct val="200000"/>
              </a:lnSpc>
            </a:pP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</a:t>
            </a:r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kumimoji="1" lang="en-US" altLang="zh-CN"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23962" lvl="2">
              <a:lnSpc>
                <a:spcPct val="200000"/>
              </a:lnSpc>
            </a:pPr>
            <a:r>
              <a:rPr kumimoji="1"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枚举类的常见应用场景</a:t>
            </a: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828225" y="2405625"/>
            <a:ext cx="1429361" cy="1023375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640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CDA0A8-3BB5-46FC-B880-0FD223B79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96" y="906085"/>
            <a:ext cx="8084613" cy="5194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枚举类很适合做信息分类和标志。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669643-8D02-9F70-8A73-A555E0AF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枚举类的常见应用场景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3E38447-CB76-46C1-BC05-A2F1C6796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98" y="1882222"/>
            <a:ext cx="2519976" cy="31328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5D2FEF1-3615-673B-6539-A3385F8D1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012" y="3457630"/>
            <a:ext cx="2707967" cy="1059649"/>
          </a:xfrm>
          <a:prstGeom prst="rect">
            <a:avLst/>
          </a:prstGeom>
          <a:solidFill>
            <a:srgbClr val="F9FBF9"/>
          </a:solidFill>
          <a:ln>
            <a:solidFill>
              <a:srgbClr val="F9FBF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move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方向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){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</a:t>
            </a:r>
            <a:r>
              <a:rPr kumimoji="0" lang="zh-CN" altLang="en-US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根据用户要求的方向控制图块移动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A17BD95-27F8-0B06-D2BD-DC917F0BAD2C}"/>
              </a:ext>
            </a:extLst>
          </p:cNvPr>
          <p:cNvCxnSpPr>
            <a:cxnSpLocks/>
          </p:cNvCxnSpPr>
          <p:nvPr/>
        </p:nvCxnSpPr>
        <p:spPr>
          <a:xfrm>
            <a:off x="1114626" y="3923447"/>
            <a:ext cx="282643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76A882D3-F93A-52E4-ABAD-127D637C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17" y="2178942"/>
            <a:ext cx="5269475" cy="25001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19458434-3C08-36BF-70A3-7AAFDCF66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011" y="2297428"/>
            <a:ext cx="2707967" cy="826893"/>
          </a:xfrm>
          <a:prstGeom prst="rect">
            <a:avLst/>
          </a:prstGeom>
          <a:solidFill>
            <a:srgbClr val="F9FBF9"/>
          </a:solidFill>
          <a:ln w="9525">
            <a:solidFill>
              <a:srgbClr val="F9FBF9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enum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Direction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UP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DOWN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LEFT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RIGHT</a:t>
            </a:r>
            <a:b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11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8026" y="1878778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0065D-955C-D607-9083-5DA9DCA6FD3D}"/>
              </a:ext>
            </a:extLst>
          </p:cNvPr>
          <p:cNvSpPr txBox="1"/>
          <p:nvPr/>
        </p:nvSpPr>
        <p:spPr>
          <a:xfrm>
            <a:off x="7021585" y="2927351"/>
            <a:ext cx="2751589" cy="13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认识抽象类</a:t>
            </a:r>
            <a:endParaRPr kumimoji="1" lang="en-US" altLang="zh-CN" sz="14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使用抽象类的好处</a:t>
            </a:r>
            <a:endParaRPr kumimoji="1" lang="en-US" altLang="zh-CN"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模板方法设计模式</a:t>
            </a:r>
            <a:endParaRPr lang="en-US" altLang="zh-CN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777090" y="2817623"/>
            <a:ext cx="1429361" cy="1692305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28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BC35EDD-14DC-4ABA-8808-232B14F31CF2}"/>
              </a:ext>
            </a:extLst>
          </p:cNvPr>
          <p:cNvSpPr txBox="1"/>
          <p:nvPr/>
        </p:nvSpPr>
        <p:spPr>
          <a:xfrm>
            <a:off x="576196" y="816590"/>
            <a:ext cx="10099039" cy="2181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中有一个关键字叫：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abstract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它就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是抽象的意思，可以用它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修饰类、成员方法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abstract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修饰类，这个类就是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abstract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修饰方法，这个方法就是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抽象方法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EAE4D58-AB20-4F77-8200-6D6BD0E08ACC}"/>
              </a:ext>
            </a:extLst>
          </p:cNvPr>
          <p:cNvSpPr txBox="1"/>
          <p:nvPr/>
        </p:nvSpPr>
        <p:spPr>
          <a:xfrm>
            <a:off x="634919" y="3404422"/>
            <a:ext cx="4462731" cy="1031629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修饰符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abstract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class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类名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{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修饰符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abstract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返回值类型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方法名称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形参列表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；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}</a:t>
            </a:r>
            <a:endParaRPr lang="zh-CN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14ACAF9-D2F6-C121-B519-D25FCAFFF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919" y="4648679"/>
            <a:ext cx="5061854" cy="1170641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abstract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抽象方法：必须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abstract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修饰，只有方法签名，不能有方法体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abstract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test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401BE3-C379-7405-1BE1-387B5249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抽象类</a:t>
            </a:r>
          </a:p>
        </p:txBody>
      </p:sp>
    </p:spTree>
    <p:extLst>
      <p:ext uri="{BB962C8B-B14F-4D97-AF65-F5344CB8AC3E}">
        <p14:creationId xmlns:p14="http://schemas.microsoft.com/office/powerpoint/2010/main" val="157473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E9D954-2CD0-45D3-A1E8-6C28A04E12F9}"/>
              </a:ext>
            </a:extLst>
          </p:cNvPr>
          <p:cNvSpPr txBox="1"/>
          <p:nvPr/>
        </p:nvSpPr>
        <p:spPr>
          <a:xfrm>
            <a:off x="576196" y="810814"/>
            <a:ext cx="9524541" cy="292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抽象类中不一定要有抽象方法，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有抽象方法的类必须是抽象类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类有的成员：成员变量、方法、构造器，抽象类都可以有。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抽象类最主要的特点：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抽象类不能创建对象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仅作为一种特殊的父类，让子类继承并实现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一个类继承抽象类，必须重写完抽象类的全部抽象方法，否则这个类也必须定义成抽象类。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D8D1467-7425-0E83-3E26-C82CEDF8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抽象类的注意事项、特点</a:t>
            </a:r>
          </a:p>
        </p:txBody>
      </p:sp>
    </p:spTree>
    <p:extLst>
      <p:ext uri="{BB962C8B-B14F-4D97-AF65-F5344CB8AC3E}">
        <p14:creationId xmlns:p14="http://schemas.microsoft.com/office/powerpoint/2010/main" val="1037447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4">
            <a:extLst>
              <a:ext uri="{FF2B5EF4-FFF2-40B4-BE49-F238E27FC236}">
                <a16:creationId xmlns:a16="http://schemas.microsoft.com/office/drawing/2014/main" id="{FF547369-0228-CF93-C099-24C9FFC9D217}"/>
              </a:ext>
            </a:extLst>
          </p:cNvPr>
          <p:cNvSpPr txBox="1">
            <a:spLocks/>
          </p:cNvSpPr>
          <p:nvPr/>
        </p:nvSpPr>
        <p:spPr>
          <a:xfrm>
            <a:off x="3691403" y="1173480"/>
            <a:ext cx="8789299" cy="4511040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、抽象类、抽象方法是什么样的？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都是用</a:t>
            </a:r>
            <a:r>
              <a:rPr lang="en-US" altLang="zh-CN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abstract</a:t>
            </a: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修饰的；抽象方法只有方法签名，不能写方法体。</a:t>
            </a: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2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、抽象类有哪些注意事项和特点？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抽象类中可以不写抽象方法，但有抽象方法的类必须是抽象类</a:t>
            </a: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类有的成员（成员变量、方法、构造器）抽象类都具备。</a:t>
            </a: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抽象类不能创建对象，仅作为一种特殊的父类，让子类继承并实现。</a:t>
            </a: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一个类继承抽象类，必须重写完抽象类的全部抽象方法，否则这个类也必须定义成抽象类。</a:t>
            </a: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545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8026" y="1878778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0065D-955C-D607-9083-5DA9DCA6FD3D}"/>
              </a:ext>
            </a:extLst>
          </p:cNvPr>
          <p:cNvSpPr txBox="1"/>
          <p:nvPr/>
        </p:nvSpPr>
        <p:spPr>
          <a:xfrm>
            <a:off x="6959353" y="2927351"/>
            <a:ext cx="3932812" cy="13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认识抽象类</a:t>
            </a:r>
            <a:endParaRPr kumimoji="1" lang="en-US" altLang="zh-CN"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使用抽象类的好处</a:t>
            </a:r>
            <a:endParaRPr kumimoji="1" lang="en-US" altLang="zh-CN" sz="14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模板方法设计模式</a:t>
            </a:r>
            <a:endParaRPr lang="en-US" altLang="zh-CN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777090" y="2817623"/>
            <a:ext cx="1429361" cy="1692305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922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文本框 10">
            <a:extLst>
              <a:ext uri="{FF2B5EF4-FFF2-40B4-BE49-F238E27FC236}">
                <a16:creationId xmlns:a16="http://schemas.microsoft.com/office/drawing/2014/main" id="{6A426362-6768-5FA4-6CC5-BD72C303B65E}"/>
              </a:ext>
            </a:extLst>
          </p:cNvPr>
          <p:cNvSpPr txBox="1"/>
          <p:nvPr/>
        </p:nvSpPr>
        <p:spPr>
          <a:xfrm>
            <a:off x="4593503" y="4107088"/>
            <a:ext cx="3706686" cy="1200329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class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Dog</a:t>
            </a:r>
            <a:r>
              <a:rPr lang="en-US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 </a:t>
            </a:r>
            <a:r>
              <a:rPr lang="en-US" altLang="zh-CN" sz="900" dirty="0">
                <a:solidFill>
                  <a:schemeClr val="tx1"/>
                </a:solidFill>
                <a:latin typeface="Consolas" panose="020B0609020204030204" pitchFamily="49" charset="0"/>
                <a:ea typeface="JetBrains Mono"/>
              </a:rPr>
              <a:t>Animal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</a:t>
            </a: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900" dirty="0">
                <a:solidFill>
                  <a:srgbClr val="9E880D"/>
                </a:solidFill>
                <a:latin typeface="Arial Unicode MS"/>
                <a:ea typeface="JetBrains Mono"/>
              </a:rPr>
              <a:t>@Override</a:t>
            </a: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void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cry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900" dirty="0" err="1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getName</a:t>
            </a: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汪汪汪的叫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~~~"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!!文本框 10">
            <a:extLst>
              <a:ext uri="{FF2B5EF4-FFF2-40B4-BE49-F238E27FC236}">
                <a16:creationId xmlns:a16="http://schemas.microsoft.com/office/drawing/2014/main" id="{E5A7311E-57DB-C3DA-0AF3-566ECB808A9F}"/>
              </a:ext>
            </a:extLst>
          </p:cNvPr>
          <p:cNvSpPr txBox="1"/>
          <p:nvPr/>
        </p:nvSpPr>
        <p:spPr>
          <a:xfrm>
            <a:off x="8590944" y="4107088"/>
            <a:ext cx="3601056" cy="1200329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class </a:t>
            </a:r>
            <a:r>
              <a:rPr lang="en-US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Cat </a:t>
            </a:r>
            <a:r>
              <a:rPr lang="en-US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 </a:t>
            </a:r>
            <a:r>
              <a:rPr lang="en-US" altLang="zh-CN" sz="900" dirty="0">
                <a:solidFill>
                  <a:schemeClr val="tx1"/>
                </a:solidFill>
                <a:latin typeface="Consolas" panose="020B0609020204030204" pitchFamily="49" charset="0"/>
                <a:ea typeface="JetBrains Mono"/>
              </a:rPr>
              <a:t>Animal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9E880D"/>
                </a:solidFill>
                <a:latin typeface="Arial Unicode MS"/>
                <a:ea typeface="JetBrains Mono"/>
              </a:rPr>
              <a:t>@Override</a:t>
            </a: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endParaRPr lang="en-US" altLang="zh-CN" sz="9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9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void </a:t>
            </a:r>
            <a:r>
              <a:rPr lang="zh-CN" altLang="zh-CN" sz="9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cry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9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9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900" dirty="0" err="1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getName</a:t>
            </a: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“</a:t>
            </a:r>
            <a:r>
              <a:rPr lang="zh-CN" altLang="en-US" sz="9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喵喵喵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的叫</a:t>
            </a:r>
            <a:r>
              <a:rPr lang="zh-CN" altLang="zh-CN" sz="9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~~~"</a:t>
            </a: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!!文本框 10">
            <a:extLst>
              <a:ext uri="{FF2B5EF4-FFF2-40B4-BE49-F238E27FC236}">
                <a16:creationId xmlns:a16="http://schemas.microsoft.com/office/drawing/2014/main" id="{FC224311-2DFA-2DB1-6224-F384502786B1}"/>
              </a:ext>
            </a:extLst>
          </p:cNvPr>
          <p:cNvSpPr txBox="1"/>
          <p:nvPr/>
        </p:nvSpPr>
        <p:spPr>
          <a:xfrm>
            <a:off x="6557466" y="1654521"/>
            <a:ext cx="2901793" cy="2092881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abstract</a:t>
            </a:r>
            <a:r>
              <a:rPr lang="zh-CN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class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Animal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</a:t>
            </a:r>
            <a:r>
              <a:rPr lang="zh-CN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0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</a:t>
            </a:r>
            <a:r>
              <a:rPr lang="en-US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abstract</a:t>
            </a:r>
            <a:r>
              <a:rPr lang="zh-CN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void </a:t>
            </a:r>
            <a:r>
              <a:rPr lang="zh-CN" altLang="zh-CN" sz="10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cry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</a:t>
            </a:r>
            <a:r>
              <a:rPr lang="en-US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</a:t>
            </a:r>
            <a:r>
              <a:rPr lang="zh-CN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0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getName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 {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</a:t>
            </a:r>
            <a:r>
              <a:rPr lang="zh-CN" altLang="zh-CN" sz="10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void </a:t>
            </a:r>
            <a:r>
              <a:rPr lang="zh-CN" altLang="zh-CN" sz="10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setName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name) {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0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0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 </a:t>
            </a: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name;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0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57C45A-65AE-9BD6-C78D-7514B47FFCB3}"/>
              </a:ext>
            </a:extLst>
          </p:cNvPr>
          <p:cNvSpPr txBox="1"/>
          <p:nvPr/>
        </p:nvSpPr>
        <p:spPr>
          <a:xfrm>
            <a:off x="5437067" y="2718187"/>
            <a:ext cx="6296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>
                <a:solidFill>
                  <a:schemeClr val="accent1"/>
                </a:solidFill>
              </a:rPr>
              <a:t>爸爸！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6A62CF-BA42-AA5F-8027-AF4AC8B0FD9A}"/>
              </a:ext>
            </a:extLst>
          </p:cNvPr>
          <p:cNvSpPr txBox="1"/>
          <p:nvPr/>
        </p:nvSpPr>
        <p:spPr>
          <a:xfrm>
            <a:off x="9709584" y="2680313"/>
            <a:ext cx="6296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100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爸爸！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EC9E13E-AC91-065C-4D69-454E2A78B74F}"/>
              </a:ext>
            </a:extLst>
          </p:cNvPr>
          <p:cNvCxnSpPr>
            <a:cxnSpLocks/>
          </p:cNvCxnSpPr>
          <p:nvPr/>
        </p:nvCxnSpPr>
        <p:spPr>
          <a:xfrm flipV="1">
            <a:off x="5887173" y="1778935"/>
            <a:ext cx="667068" cy="2325977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BEC217B-26AB-5C5C-9BE1-32C977D38D85}"/>
              </a:ext>
            </a:extLst>
          </p:cNvPr>
          <p:cNvCxnSpPr>
            <a:cxnSpLocks/>
          </p:cNvCxnSpPr>
          <p:nvPr/>
        </p:nvCxnSpPr>
        <p:spPr>
          <a:xfrm flipH="1" flipV="1">
            <a:off x="9465620" y="1778935"/>
            <a:ext cx="481179" cy="2325977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202639C-02BB-E98B-D6CE-B70FB613A949}"/>
              </a:ext>
            </a:extLst>
          </p:cNvPr>
          <p:cNvSpPr txBox="1"/>
          <p:nvPr/>
        </p:nvSpPr>
        <p:spPr>
          <a:xfrm>
            <a:off x="507509" y="992162"/>
            <a:ext cx="4836278" cy="13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父类知道每个子类都要做某个行为，但每个子类要做的情况不一样，父类就定义成抽象方法，交给子类去重写实现，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我们设计这样的抽象类，就是为了更好的支持多态。</a:t>
            </a:r>
            <a:endParaRPr lang="zh-CN" altLang="en-US" sz="1400" dirty="0">
              <a:solidFill>
                <a:srgbClr val="C00000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0F1AB45-989F-FF23-E226-081F2B2C5907}"/>
              </a:ext>
            </a:extLst>
          </p:cNvPr>
          <p:cNvGrpSpPr/>
          <p:nvPr/>
        </p:nvGrpSpPr>
        <p:grpSpPr>
          <a:xfrm>
            <a:off x="615053" y="3222370"/>
            <a:ext cx="3706686" cy="2166186"/>
            <a:chOff x="1264428" y="1152525"/>
            <a:chExt cx="6847285" cy="2795588"/>
          </a:xfrm>
        </p:grpSpPr>
        <p:sp>
          <p:nvSpPr>
            <p:cNvPr id="4" name="圆角矩形 7">
              <a:extLst>
                <a:ext uri="{FF2B5EF4-FFF2-40B4-BE49-F238E27FC236}">
                  <a16:creationId xmlns:a16="http://schemas.microsoft.com/office/drawing/2014/main" id="{DC67B137-B15F-15F8-A646-70FC696198EC}"/>
                </a:ext>
              </a:extLst>
            </p:cNvPr>
            <p:cNvSpPr/>
            <p:nvPr/>
          </p:nvSpPr>
          <p:spPr bwMode="auto">
            <a:xfrm>
              <a:off x="1264428" y="1152525"/>
              <a:ext cx="6847285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5" name="圆角矩形 8">
              <a:extLst>
                <a:ext uri="{FF2B5EF4-FFF2-40B4-BE49-F238E27FC236}">
                  <a16:creationId xmlns:a16="http://schemas.microsoft.com/office/drawing/2014/main" id="{DB475430-BB8D-E376-F6F7-020A620C1CCF}"/>
                </a:ext>
              </a:extLst>
            </p:cNvPr>
            <p:cNvSpPr/>
            <p:nvPr/>
          </p:nvSpPr>
          <p:spPr bwMode="auto">
            <a:xfrm>
              <a:off x="1412166" y="1236171"/>
              <a:ext cx="6589205" cy="2610943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>
                <a:lnSpc>
                  <a:spcPct val="20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某宠物游戏，需要管理猫、狗的数据。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20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猫的数据有：名字；行为是：喵喵喵的叫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~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狗的数据有：名字；行为是：汪汪汪的叫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~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请用面向对象编程设计该程序。 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6" name="矩形 1">
            <a:extLst>
              <a:ext uri="{FF2B5EF4-FFF2-40B4-BE49-F238E27FC236}">
                <a16:creationId xmlns:a16="http://schemas.microsoft.com/office/drawing/2014/main" id="{C8EB1E47-04E4-E462-D1DC-A1E711B42FF8}"/>
              </a:ext>
            </a:extLst>
          </p:cNvPr>
          <p:cNvSpPr/>
          <p:nvPr/>
        </p:nvSpPr>
        <p:spPr>
          <a:xfrm>
            <a:off x="615053" y="3180555"/>
            <a:ext cx="1174112" cy="117498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418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52E1FA97-EC21-B48A-2B11-660FE9E898DB}"/>
              </a:ext>
            </a:extLst>
          </p:cNvPr>
          <p:cNvSpPr/>
          <p:nvPr/>
        </p:nvSpPr>
        <p:spPr>
          <a:xfrm>
            <a:off x="557612" y="3187699"/>
            <a:ext cx="1028069" cy="366750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4188C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46DAF9-624C-862A-CA42-740BA4DC5450}"/>
              </a:ext>
            </a:extLst>
          </p:cNvPr>
          <p:cNvSpPr txBox="1"/>
          <p:nvPr/>
        </p:nvSpPr>
        <p:spPr>
          <a:xfrm>
            <a:off x="615053" y="3198670"/>
            <a:ext cx="595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需求</a:t>
            </a:r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74663C61-F80C-60C5-6196-00F4957B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使用抽象类的好处</a:t>
            </a:r>
          </a:p>
        </p:txBody>
      </p:sp>
    </p:spTree>
    <p:extLst>
      <p:ext uri="{BB962C8B-B14F-4D97-AF65-F5344CB8AC3E}">
        <p14:creationId xmlns:p14="http://schemas.microsoft.com/office/powerpoint/2010/main" val="71456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/>
      <p:bldP spid="21" grpId="0"/>
      <p:bldP spid="6" grpId="0" animBg="1"/>
      <p:bldP spid="7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4">
            <a:extLst>
              <a:ext uri="{FF2B5EF4-FFF2-40B4-BE49-F238E27FC236}">
                <a16:creationId xmlns:a16="http://schemas.microsoft.com/office/drawing/2014/main" id="{FF547369-0228-CF93-C099-24C9FFC9D217}"/>
              </a:ext>
            </a:extLst>
          </p:cNvPr>
          <p:cNvSpPr txBox="1">
            <a:spLocks/>
          </p:cNvSpPr>
          <p:nvPr/>
        </p:nvSpPr>
        <p:spPr>
          <a:xfrm>
            <a:off x="3766678" y="2079105"/>
            <a:ext cx="7407191" cy="4511040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、抽象类的应用场景和好处是什么？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父类知道每个子类都要做某个行为，但每个子类要做的情况不一样，父类就定义成抽象方法，交给子类去重写实现，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我们抽出这样的抽象类，就是为了更好的支持多态。</a:t>
            </a:r>
          </a:p>
        </p:txBody>
      </p:sp>
    </p:spTree>
    <p:extLst>
      <p:ext uri="{BB962C8B-B14F-4D97-AF65-F5344CB8AC3E}">
        <p14:creationId xmlns:p14="http://schemas.microsoft.com/office/powerpoint/2010/main" val="711762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8026" y="1878778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0065D-955C-D607-9083-5DA9DCA6FD3D}"/>
              </a:ext>
            </a:extLst>
          </p:cNvPr>
          <p:cNvSpPr txBox="1"/>
          <p:nvPr/>
        </p:nvSpPr>
        <p:spPr>
          <a:xfrm>
            <a:off x="6959353" y="2927351"/>
            <a:ext cx="3932812" cy="13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认识抽象类</a:t>
            </a:r>
            <a:endParaRPr kumimoji="1" lang="en-US" altLang="zh-CN"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使用抽象类的好处</a:t>
            </a:r>
            <a:endParaRPr kumimoji="1" lang="en-US" altLang="zh-CN" sz="14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模板方法设计模式</a:t>
            </a:r>
            <a:endParaRPr lang="en-US" altLang="zh-CN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777090" y="2817623"/>
            <a:ext cx="1429361" cy="1692305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477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28C6B213-B6B3-44F8-ABAE-0BBCCF1FD197}"/>
              </a:ext>
            </a:extLst>
          </p:cNvPr>
          <p:cNvSpPr txBox="1"/>
          <p:nvPr/>
        </p:nvSpPr>
        <p:spPr>
          <a:xfrm>
            <a:off x="576195" y="864379"/>
            <a:ext cx="11272093" cy="10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+mn-ea"/>
              </a:rPr>
              <a:t>提供一个方法作为完成某类功能的模板，模板方法封装了每个实现步骤，但允许子类提供特定步骤的实现。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+mn-ea"/>
              </a:rPr>
              <a:t>模板方法设计模式可以：提高代码的复用、并简化子类设计。</a:t>
            </a:r>
            <a:endParaRPr lang="en-US" altLang="zh-CN" sz="1400" dirty="0">
              <a:solidFill>
                <a:srgbClr val="333333"/>
              </a:solidFill>
              <a:latin typeface="+mn-ea"/>
              <a:cs typeface="阿里巴巴普惠体" panose="00020600040101010101" pitchFamily="18" charset="-122"/>
            </a:endParaRPr>
          </a:p>
        </p:txBody>
      </p:sp>
      <p:sp>
        <p:nvSpPr>
          <p:cNvPr id="2" name="TextBox 46">
            <a:extLst>
              <a:ext uri="{FF2B5EF4-FFF2-40B4-BE49-F238E27FC236}">
                <a16:creationId xmlns:a16="http://schemas.microsoft.com/office/drawing/2014/main" id="{638F1D6C-140F-6A5C-0889-DB3A4B87EB3B}"/>
              </a:ext>
            </a:extLst>
          </p:cNvPr>
          <p:cNvSpPr txBox="1"/>
          <p:nvPr/>
        </p:nvSpPr>
        <p:spPr>
          <a:xfrm>
            <a:off x="818931" y="2184430"/>
            <a:ext cx="2225828" cy="3386633"/>
          </a:xfrm>
          <a:custGeom>
            <a:avLst/>
            <a:gdLst>
              <a:gd name="connsiteX0" fmla="*/ 0 w 2225828"/>
              <a:gd name="connsiteY0" fmla="*/ 0 h 3386633"/>
              <a:gd name="connsiteX1" fmla="*/ 556457 w 2225828"/>
              <a:gd name="connsiteY1" fmla="*/ 0 h 3386633"/>
              <a:gd name="connsiteX2" fmla="*/ 1135172 w 2225828"/>
              <a:gd name="connsiteY2" fmla="*/ 0 h 3386633"/>
              <a:gd name="connsiteX3" fmla="*/ 1736146 w 2225828"/>
              <a:gd name="connsiteY3" fmla="*/ 0 h 3386633"/>
              <a:gd name="connsiteX4" fmla="*/ 2225828 w 2225828"/>
              <a:gd name="connsiteY4" fmla="*/ 0 h 3386633"/>
              <a:gd name="connsiteX5" fmla="*/ 2225828 w 2225828"/>
              <a:gd name="connsiteY5" fmla="*/ 598305 h 3386633"/>
              <a:gd name="connsiteX6" fmla="*/ 2225828 w 2225828"/>
              <a:gd name="connsiteY6" fmla="*/ 1128878 h 3386633"/>
              <a:gd name="connsiteX7" fmla="*/ 2225828 w 2225828"/>
              <a:gd name="connsiteY7" fmla="*/ 1693317 h 3386633"/>
              <a:gd name="connsiteX8" fmla="*/ 2225828 w 2225828"/>
              <a:gd name="connsiteY8" fmla="*/ 2190023 h 3386633"/>
              <a:gd name="connsiteX9" fmla="*/ 2225828 w 2225828"/>
              <a:gd name="connsiteY9" fmla="*/ 2822194 h 3386633"/>
              <a:gd name="connsiteX10" fmla="*/ 2225828 w 2225828"/>
              <a:gd name="connsiteY10" fmla="*/ 3386633 h 3386633"/>
              <a:gd name="connsiteX11" fmla="*/ 1647113 w 2225828"/>
              <a:gd name="connsiteY11" fmla="*/ 3386633 h 3386633"/>
              <a:gd name="connsiteX12" fmla="*/ 1157431 w 2225828"/>
              <a:gd name="connsiteY12" fmla="*/ 3386633 h 3386633"/>
              <a:gd name="connsiteX13" fmla="*/ 556457 w 2225828"/>
              <a:gd name="connsiteY13" fmla="*/ 3386633 h 3386633"/>
              <a:gd name="connsiteX14" fmla="*/ 0 w 2225828"/>
              <a:gd name="connsiteY14" fmla="*/ 3386633 h 3386633"/>
              <a:gd name="connsiteX15" fmla="*/ 0 w 2225828"/>
              <a:gd name="connsiteY15" fmla="*/ 2788328 h 3386633"/>
              <a:gd name="connsiteX16" fmla="*/ 0 w 2225828"/>
              <a:gd name="connsiteY16" fmla="*/ 2190023 h 3386633"/>
              <a:gd name="connsiteX17" fmla="*/ 0 w 2225828"/>
              <a:gd name="connsiteY17" fmla="*/ 1659450 h 3386633"/>
              <a:gd name="connsiteX18" fmla="*/ 0 w 2225828"/>
              <a:gd name="connsiteY18" fmla="*/ 1196610 h 3386633"/>
              <a:gd name="connsiteX19" fmla="*/ 0 w 2225828"/>
              <a:gd name="connsiteY19" fmla="*/ 564439 h 3386633"/>
              <a:gd name="connsiteX20" fmla="*/ 0 w 2225828"/>
              <a:gd name="connsiteY20" fmla="*/ 0 h 338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25828" h="3386633" fill="none" extrusionOk="0">
                <a:moveTo>
                  <a:pt x="0" y="0"/>
                </a:moveTo>
                <a:cubicBezTo>
                  <a:pt x="246394" y="-45867"/>
                  <a:pt x="417776" y="17327"/>
                  <a:pt x="556457" y="0"/>
                </a:cubicBezTo>
                <a:cubicBezTo>
                  <a:pt x="695138" y="-17327"/>
                  <a:pt x="876474" y="64541"/>
                  <a:pt x="1135172" y="0"/>
                </a:cubicBezTo>
                <a:cubicBezTo>
                  <a:pt x="1393870" y="-64541"/>
                  <a:pt x="1565405" y="10686"/>
                  <a:pt x="1736146" y="0"/>
                </a:cubicBezTo>
                <a:cubicBezTo>
                  <a:pt x="1906887" y="-10686"/>
                  <a:pt x="2097063" y="45802"/>
                  <a:pt x="2225828" y="0"/>
                </a:cubicBezTo>
                <a:cubicBezTo>
                  <a:pt x="2264909" y="152530"/>
                  <a:pt x="2218517" y="405192"/>
                  <a:pt x="2225828" y="598305"/>
                </a:cubicBezTo>
                <a:cubicBezTo>
                  <a:pt x="2233139" y="791419"/>
                  <a:pt x="2174024" y="954470"/>
                  <a:pt x="2225828" y="1128878"/>
                </a:cubicBezTo>
                <a:cubicBezTo>
                  <a:pt x="2277632" y="1303286"/>
                  <a:pt x="2185863" y="1444600"/>
                  <a:pt x="2225828" y="1693317"/>
                </a:cubicBezTo>
                <a:cubicBezTo>
                  <a:pt x="2265793" y="1942034"/>
                  <a:pt x="2175006" y="2087488"/>
                  <a:pt x="2225828" y="2190023"/>
                </a:cubicBezTo>
                <a:cubicBezTo>
                  <a:pt x="2276650" y="2292558"/>
                  <a:pt x="2222036" y="2604989"/>
                  <a:pt x="2225828" y="2822194"/>
                </a:cubicBezTo>
                <a:cubicBezTo>
                  <a:pt x="2229620" y="3039399"/>
                  <a:pt x="2225514" y="3245447"/>
                  <a:pt x="2225828" y="3386633"/>
                </a:cubicBezTo>
                <a:cubicBezTo>
                  <a:pt x="1989142" y="3433929"/>
                  <a:pt x="1814378" y="3368987"/>
                  <a:pt x="1647113" y="3386633"/>
                </a:cubicBezTo>
                <a:cubicBezTo>
                  <a:pt x="1479849" y="3404279"/>
                  <a:pt x="1256044" y="3381159"/>
                  <a:pt x="1157431" y="3386633"/>
                </a:cubicBezTo>
                <a:cubicBezTo>
                  <a:pt x="1058818" y="3392107"/>
                  <a:pt x="726537" y="3337847"/>
                  <a:pt x="556457" y="3386633"/>
                </a:cubicBezTo>
                <a:cubicBezTo>
                  <a:pt x="386377" y="3435419"/>
                  <a:pt x="190786" y="3342093"/>
                  <a:pt x="0" y="3386633"/>
                </a:cubicBezTo>
                <a:cubicBezTo>
                  <a:pt x="-8606" y="3194982"/>
                  <a:pt x="22695" y="3083821"/>
                  <a:pt x="0" y="2788328"/>
                </a:cubicBezTo>
                <a:cubicBezTo>
                  <a:pt x="-22695" y="2492835"/>
                  <a:pt x="69308" y="2329441"/>
                  <a:pt x="0" y="2190023"/>
                </a:cubicBezTo>
                <a:cubicBezTo>
                  <a:pt x="-69308" y="2050606"/>
                  <a:pt x="24424" y="1901927"/>
                  <a:pt x="0" y="1659450"/>
                </a:cubicBezTo>
                <a:cubicBezTo>
                  <a:pt x="-24424" y="1416973"/>
                  <a:pt x="48604" y="1369540"/>
                  <a:pt x="0" y="1196610"/>
                </a:cubicBezTo>
                <a:cubicBezTo>
                  <a:pt x="-48604" y="1023680"/>
                  <a:pt x="45773" y="719255"/>
                  <a:pt x="0" y="564439"/>
                </a:cubicBezTo>
                <a:cubicBezTo>
                  <a:pt x="-45773" y="409623"/>
                  <a:pt x="23526" y="226931"/>
                  <a:pt x="0" y="0"/>
                </a:cubicBezTo>
                <a:close/>
              </a:path>
              <a:path w="2225828" h="3386633" stroke="0" extrusionOk="0">
                <a:moveTo>
                  <a:pt x="0" y="0"/>
                </a:moveTo>
                <a:cubicBezTo>
                  <a:pt x="209106" y="-48808"/>
                  <a:pt x="438222" y="18721"/>
                  <a:pt x="578715" y="0"/>
                </a:cubicBezTo>
                <a:cubicBezTo>
                  <a:pt x="719208" y="-18721"/>
                  <a:pt x="877650" y="8546"/>
                  <a:pt x="1112914" y="0"/>
                </a:cubicBezTo>
                <a:cubicBezTo>
                  <a:pt x="1348178" y="-8546"/>
                  <a:pt x="1371452" y="22853"/>
                  <a:pt x="1602596" y="0"/>
                </a:cubicBezTo>
                <a:cubicBezTo>
                  <a:pt x="1833740" y="-22853"/>
                  <a:pt x="1921893" y="45999"/>
                  <a:pt x="2225828" y="0"/>
                </a:cubicBezTo>
                <a:cubicBezTo>
                  <a:pt x="2250818" y="164773"/>
                  <a:pt x="2206271" y="272792"/>
                  <a:pt x="2225828" y="496706"/>
                </a:cubicBezTo>
                <a:cubicBezTo>
                  <a:pt x="2245385" y="720620"/>
                  <a:pt x="2199454" y="889975"/>
                  <a:pt x="2225828" y="1027279"/>
                </a:cubicBezTo>
                <a:cubicBezTo>
                  <a:pt x="2252202" y="1164583"/>
                  <a:pt x="2219574" y="1291178"/>
                  <a:pt x="2225828" y="1523985"/>
                </a:cubicBezTo>
                <a:cubicBezTo>
                  <a:pt x="2232082" y="1756792"/>
                  <a:pt x="2183984" y="1838458"/>
                  <a:pt x="2225828" y="1986825"/>
                </a:cubicBezTo>
                <a:cubicBezTo>
                  <a:pt x="2267672" y="2135192"/>
                  <a:pt x="2210376" y="2324832"/>
                  <a:pt x="2225828" y="2449665"/>
                </a:cubicBezTo>
                <a:cubicBezTo>
                  <a:pt x="2241280" y="2574498"/>
                  <a:pt x="2160150" y="3061166"/>
                  <a:pt x="2225828" y="3386633"/>
                </a:cubicBezTo>
                <a:cubicBezTo>
                  <a:pt x="2074587" y="3440752"/>
                  <a:pt x="1852270" y="3342375"/>
                  <a:pt x="1713888" y="3386633"/>
                </a:cubicBezTo>
                <a:cubicBezTo>
                  <a:pt x="1575506" y="3430891"/>
                  <a:pt x="1389546" y="3377381"/>
                  <a:pt x="1201947" y="3386633"/>
                </a:cubicBezTo>
                <a:cubicBezTo>
                  <a:pt x="1014348" y="3395885"/>
                  <a:pt x="802570" y="3372258"/>
                  <a:pt x="645490" y="3386633"/>
                </a:cubicBezTo>
                <a:cubicBezTo>
                  <a:pt x="488410" y="3401008"/>
                  <a:pt x="236423" y="3340099"/>
                  <a:pt x="0" y="3386633"/>
                </a:cubicBezTo>
                <a:cubicBezTo>
                  <a:pt x="-21643" y="3240682"/>
                  <a:pt x="10602" y="3031696"/>
                  <a:pt x="0" y="2889927"/>
                </a:cubicBezTo>
                <a:cubicBezTo>
                  <a:pt x="-10602" y="2748158"/>
                  <a:pt x="35194" y="2587566"/>
                  <a:pt x="0" y="2359354"/>
                </a:cubicBezTo>
                <a:cubicBezTo>
                  <a:pt x="-35194" y="2131142"/>
                  <a:pt x="33794" y="2037306"/>
                  <a:pt x="0" y="1896514"/>
                </a:cubicBezTo>
                <a:cubicBezTo>
                  <a:pt x="-33794" y="1755722"/>
                  <a:pt x="47639" y="1572061"/>
                  <a:pt x="0" y="1399808"/>
                </a:cubicBezTo>
                <a:cubicBezTo>
                  <a:pt x="-47639" y="1227555"/>
                  <a:pt x="9228" y="1063567"/>
                  <a:pt x="0" y="801503"/>
                </a:cubicBezTo>
                <a:cubicBezTo>
                  <a:pt x="-9228" y="539440"/>
                  <a:pt x="93970" y="323600"/>
                  <a:pt x="0" y="0"/>
                </a:cubicBezTo>
                <a:close/>
              </a:path>
            </a:pathLst>
          </a:custGeom>
          <a:solidFill>
            <a:srgbClr val="F9FBF9"/>
          </a:solidFill>
          <a:ln>
            <a:solidFill>
              <a:srgbClr val="F9FBF9"/>
            </a:solidFill>
            <a:extLst>
              <a:ext uri="{C807C97D-BFC1-408E-A445-0C87EB9F89A2}">
                <ask:lineSketchStyleProps xmlns:ask="http://schemas.microsoft.com/office/drawing/2018/sketchyshapes" sd="33972188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...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void </a:t>
            </a:r>
            <a:r>
              <a:rPr lang="en-US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write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代码一样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    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zh-C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代码不同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代码一样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...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40B03137-E232-F1DB-D86D-0171674FBD51}"/>
              </a:ext>
            </a:extLst>
          </p:cNvPr>
          <p:cNvSpPr txBox="1"/>
          <p:nvPr/>
        </p:nvSpPr>
        <p:spPr>
          <a:xfrm>
            <a:off x="3870172" y="2184429"/>
            <a:ext cx="2225828" cy="3386633"/>
          </a:xfrm>
          <a:custGeom>
            <a:avLst/>
            <a:gdLst>
              <a:gd name="connsiteX0" fmla="*/ 0 w 2225828"/>
              <a:gd name="connsiteY0" fmla="*/ 0 h 3386633"/>
              <a:gd name="connsiteX1" fmla="*/ 556457 w 2225828"/>
              <a:gd name="connsiteY1" fmla="*/ 0 h 3386633"/>
              <a:gd name="connsiteX2" fmla="*/ 1135172 w 2225828"/>
              <a:gd name="connsiteY2" fmla="*/ 0 h 3386633"/>
              <a:gd name="connsiteX3" fmla="*/ 1736146 w 2225828"/>
              <a:gd name="connsiteY3" fmla="*/ 0 h 3386633"/>
              <a:gd name="connsiteX4" fmla="*/ 2225828 w 2225828"/>
              <a:gd name="connsiteY4" fmla="*/ 0 h 3386633"/>
              <a:gd name="connsiteX5" fmla="*/ 2225828 w 2225828"/>
              <a:gd name="connsiteY5" fmla="*/ 598305 h 3386633"/>
              <a:gd name="connsiteX6" fmla="*/ 2225828 w 2225828"/>
              <a:gd name="connsiteY6" fmla="*/ 1128878 h 3386633"/>
              <a:gd name="connsiteX7" fmla="*/ 2225828 w 2225828"/>
              <a:gd name="connsiteY7" fmla="*/ 1693317 h 3386633"/>
              <a:gd name="connsiteX8" fmla="*/ 2225828 w 2225828"/>
              <a:gd name="connsiteY8" fmla="*/ 2190023 h 3386633"/>
              <a:gd name="connsiteX9" fmla="*/ 2225828 w 2225828"/>
              <a:gd name="connsiteY9" fmla="*/ 2822194 h 3386633"/>
              <a:gd name="connsiteX10" fmla="*/ 2225828 w 2225828"/>
              <a:gd name="connsiteY10" fmla="*/ 3386633 h 3386633"/>
              <a:gd name="connsiteX11" fmla="*/ 1647113 w 2225828"/>
              <a:gd name="connsiteY11" fmla="*/ 3386633 h 3386633"/>
              <a:gd name="connsiteX12" fmla="*/ 1157431 w 2225828"/>
              <a:gd name="connsiteY12" fmla="*/ 3386633 h 3386633"/>
              <a:gd name="connsiteX13" fmla="*/ 556457 w 2225828"/>
              <a:gd name="connsiteY13" fmla="*/ 3386633 h 3386633"/>
              <a:gd name="connsiteX14" fmla="*/ 0 w 2225828"/>
              <a:gd name="connsiteY14" fmla="*/ 3386633 h 3386633"/>
              <a:gd name="connsiteX15" fmla="*/ 0 w 2225828"/>
              <a:gd name="connsiteY15" fmla="*/ 2788328 h 3386633"/>
              <a:gd name="connsiteX16" fmla="*/ 0 w 2225828"/>
              <a:gd name="connsiteY16" fmla="*/ 2190023 h 3386633"/>
              <a:gd name="connsiteX17" fmla="*/ 0 w 2225828"/>
              <a:gd name="connsiteY17" fmla="*/ 1659450 h 3386633"/>
              <a:gd name="connsiteX18" fmla="*/ 0 w 2225828"/>
              <a:gd name="connsiteY18" fmla="*/ 1196610 h 3386633"/>
              <a:gd name="connsiteX19" fmla="*/ 0 w 2225828"/>
              <a:gd name="connsiteY19" fmla="*/ 564439 h 3386633"/>
              <a:gd name="connsiteX20" fmla="*/ 0 w 2225828"/>
              <a:gd name="connsiteY20" fmla="*/ 0 h 338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25828" h="3386633" fill="none" extrusionOk="0">
                <a:moveTo>
                  <a:pt x="0" y="0"/>
                </a:moveTo>
                <a:cubicBezTo>
                  <a:pt x="246394" y="-45867"/>
                  <a:pt x="417776" y="17327"/>
                  <a:pt x="556457" y="0"/>
                </a:cubicBezTo>
                <a:cubicBezTo>
                  <a:pt x="695138" y="-17327"/>
                  <a:pt x="876474" y="64541"/>
                  <a:pt x="1135172" y="0"/>
                </a:cubicBezTo>
                <a:cubicBezTo>
                  <a:pt x="1393870" y="-64541"/>
                  <a:pt x="1565405" y="10686"/>
                  <a:pt x="1736146" y="0"/>
                </a:cubicBezTo>
                <a:cubicBezTo>
                  <a:pt x="1906887" y="-10686"/>
                  <a:pt x="2097063" y="45802"/>
                  <a:pt x="2225828" y="0"/>
                </a:cubicBezTo>
                <a:cubicBezTo>
                  <a:pt x="2264909" y="152530"/>
                  <a:pt x="2218517" y="405192"/>
                  <a:pt x="2225828" y="598305"/>
                </a:cubicBezTo>
                <a:cubicBezTo>
                  <a:pt x="2233139" y="791419"/>
                  <a:pt x="2174024" y="954470"/>
                  <a:pt x="2225828" y="1128878"/>
                </a:cubicBezTo>
                <a:cubicBezTo>
                  <a:pt x="2277632" y="1303286"/>
                  <a:pt x="2185863" y="1444600"/>
                  <a:pt x="2225828" y="1693317"/>
                </a:cubicBezTo>
                <a:cubicBezTo>
                  <a:pt x="2265793" y="1942034"/>
                  <a:pt x="2175006" y="2087488"/>
                  <a:pt x="2225828" y="2190023"/>
                </a:cubicBezTo>
                <a:cubicBezTo>
                  <a:pt x="2276650" y="2292558"/>
                  <a:pt x="2222036" y="2604989"/>
                  <a:pt x="2225828" y="2822194"/>
                </a:cubicBezTo>
                <a:cubicBezTo>
                  <a:pt x="2229620" y="3039399"/>
                  <a:pt x="2225514" y="3245447"/>
                  <a:pt x="2225828" y="3386633"/>
                </a:cubicBezTo>
                <a:cubicBezTo>
                  <a:pt x="1989142" y="3433929"/>
                  <a:pt x="1814378" y="3368987"/>
                  <a:pt x="1647113" y="3386633"/>
                </a:cubicBezTo>
                <a:cubicBezTo>
                  <a:pt x="1479849" y="3404279"/>
                  <a:pt x="1256044" y="3381159"/>
                  <a:pt x="1157431" y="3386633"/>
                </a:cubicBezTo>
                <a:cubicBezTo>
                  <a:pt x="1058818" y="3392107"/>
                  <a:pt x="726537" y="3337847"/>
                  <a:pt x="556457" y="3386633"/>
                </a:cubicBezTo>
                <a:cubicBezTo>
                  <a:pt x="386377" y="3435419"/>
                  <a:pt x="190786" y="3342093"/>
                  <a:pt x="0" y="3386633"/>
                </a:cubicBezTo>
                <a:cubicBezTo>
                  <a:pt x="-8606" y="3194982"/>
                  <a:pt x="22695" y="3083821"/>
                  <a:pt x="0" y="2788328"/>
                </a:cubicBezTo>
                <a:cubicBezTo>
                  <a:pt x="-22695" y="2492835"/>
                  <a:pt x="69308" y="2329441"/>
                  <a:pt x="0" y="2190023"/>
                </a:cubicBezTo>
                <a:cubicBezTo>
                  <a:pt x="-69308" y="2050606"/>
                  <a:pt x="24424" y="1901927"/>
                  <a:pt x="0" y="1659450"/>
                </a:cubicBezTo>
                <a:cubicBezTo>
                  <a:pt x="-24424" y="1416973"/>
                  <a:pt x="48604" y="1369540"/>
                  <a:pt x="0" y="1196610"/>
                </a:cubicBezTo>
                <a:cubicBezTo>
                  <a:pt x="-48604" y="1023680"/>
                  <a:pt x="45773" y="719255"/>
                  <a:pt x="0" y="564439"/>
                </a:cubicBezTo>
                <a:cubicBezTo>
                  <a:pt x="-45773" y="409623"/>
                  <a:pt x="23526" y="226931"/>
                  <a:pt x="0" y="0"/>
                </a:cubicBezTo>
                <a:close/>
              </a:path>
              <a:path w="2225828" h="3386633" stroke="0" extrusionOk="0">
                <a:moveTo>
                  <a:pt x="0" y="0"/>
                </a:moveTo>
                <a:cubicBezTo>
                  <a:pt x="209106" y="-48808"/>
                  <a:pt x="438222" y="18721"/>
                  <a:pt x="578715" y="0"/>
                </a:cubicBezTo>
                <a:cubicBezTo>
                  <a:pt x="719208" y="-18721"/>
                  <a:pt x="877650" y="8546"/>
                  <a:pt x="1112914" y="0"/>
                </a:cubicBezTo>
                <a:cubicBezTo>
                  <a:pt x="1348178" y="-8546"/>
                  <a:pt x="1371452" y="22853"/>
                  <a:pt x="1602596" y="0"/>
                </a:cubicBezTo>
                <a:cubicBezTo>
                  <a:pt x="1833740" y="-22853"/>
                  <a:pt x="1921893" y="45999"/>
                  <a:pt x="2225828" y="0"/>
                </a:cubicBezTo>
                <a:cubicBezTo>
                  <a:pt x="2250818" y="164773"/>
                  <a:pt x="2206271" y="272792"/>
                  <a:pt x="2225828" y="496706"/>
                </a:cubicBezTo>
                <a:cubicBezTo>
                  <a:pt x="2245385" y="720620"/>
                  <a:pt x="2199454" y="889975"/>
                  <a:pt x="2225828" y="1027279"/>
                </a:cubicBezTo>
                <a:cubicBezTo>
                  <a:pt x="2252202" y="1164583"/>
                  <a:pt x="2219574" y="1291178"/>
                  <a:pt x="2225828" y="1523985"/>
                </a:cubicBezTo>
                <a:cubicBezTo>
                  <a:pt x="2232082" y="1756792"/>
                  <a:pt x="2183984" y="1838458"/>
                  <a:pt x="2225828" y="1986825"/>
                </a:cubicBezTo>
                <a:cubicBezTo>
                  <a:pt x="2267672" y="2135192"/>
                  <a:pt x="2210376" y="2324832"/>
                  <a:pt x="2225828" y="2449665"/>
                </a:cubicBezTo>
                <a:cubicBezTo>
                  <a:pt x="2241280" y="2574498"/>
                  <a:pt x="2160150" y="3061166"/>
                  <a:pt x="2225828" y="3386633"/>
                </a:cubicBezTo>
                <a:cubicBezTo>
                  <a:pt x="2074587" y="3440752"/>
                  <a:pt x="1852270" y="3342375"/>
                  <a:pt x="1713888" y="3386633"/>
                </a:cubicBezTo>
                <a:cubicBezTo>
                  <a:pt x="1575506" y="3430891"/>
                  <a:pt x="1389546" y="3377381"/>
                  <a:pt x="1201947" y="3386633"/>
                </a:cubicBezTo>
                <a:cubicBezTo>
                  <a:pt x="1014348" y="3395885"/>
                  <a:pt x="802570" y="3372258"/>
                  <a:pt x="645490" y="3386633"/>
                </a:cubicBezTo>
                <a:cubicBezTo>
                  <a:pt x="488410" y="3401008"/>
                  <a:pt x="236423" y="3340099"/>
                  <a:pt x="0" y="3386633"/>
                </a:cubicBezTo>
                <a:cubicBezTo>
                  <a:pt x="-21643" y="3240682"/>
                  <a:pt x="10602" y="3031696"/>
                  <a:pt x="0" y="2889927"/>
                </a:cubicBezTo>
                <a:cubicBezTo>
                  <a:pt x="-10602" y="2748158"/>
                  <a:pt x="35194" y="2587566"/>
                  <a:pt x="0" y="2359354"/>
                </a:cubicBezTo>
                <a:cubicBezTo>
                  <a:pt x="-35194" y="2131142"/>
                  <a:pt x="33794" y="2037306"/>
                  <a:pt x="0" y="1896514"/>
                </a:cubicBezTo>
                <a:cubicBezTo>
                  <a:pt x="-33794" y="1755722"/>
                  <a:pt x="47639" y="1572061"/>
                  <a:pt x="0" y="1399808"/>
                </a:cubicBezTo>
                <a:cubicBezTo>
                  <a:pt x="-47639" y="1227555"/>
                  <a:pt x="9228" y="1063567"/>
                  <a:pt x="0" y="801503"/>
                </a:cubicBezTo>
                <a:cubicBezTo>
                  <a:pt x="-9228" y="539440"/>
                  <a:pt x="93970" y="323600"/>
                  <a:pt x="0" y="0"/>
                </a:cubicBezTo>
                <a:close/>
              </a:path>
            </a:pathLst>
          </a:custGeom>
          <a:solidFill>
            <a:srgbClr val="F9FBF9"/>
          </a:solidFill>
          <a:ln>
            <a:solidFill>
              <a:srgbClr val="F9FBF9"/>
            </a:solidFill>
            <a:extLst>
              <a:ext uri="{C807C97D-BFC1-408E-A445-0C87EB9F89A2}">
                <ask:lineSketchStyleProps xmlns:ask="http://schemas.microsoft.com/office/drawing/2018/sketchyshapes" sd="33972188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B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...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void </a:t>
            </a:r>
            <a:r>
              <a:rPr lang="en-US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write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代码一样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    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zh-CN" altLang="zh-CN" sz="12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代码不同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代码一样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...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endParaRPr lang="zh-CN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E2A9CD8-53EB-94FF-53EA-D71616EC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模板方法设计模式</a:t>
            </a:r>
          </a:p>
        </p:txBody>
      </p:sp>
    </p:spTree>
    <p:extLst>
      <p:ext uri="{BB962C8B-B14F-4D97-AF65-F5344CB8AC3E}">
        <p14:creationId xmlns:p14="http://schemas.microsoft.com/office/powerpoint/2010/main" val="373860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28C6B213-B6B3-44F8-ABAE-0BBCCF1FD197}"/>
              </a:ext>
            </a:extLst>
          </p:cNvPr>
          <p:cNvSpPr txBox="1"/>
          <p:nvPr/>
        </p:nvSpPr>
        <p:spPr>
          <a:xfrm>
            <a:off x="576195" y="864379"/>
            <a:ext cx="11272093" cy="10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+mn-ea"/>
              </a:rPr>
              <a:t>提供一个方法作为完成某类功能的模板，模板方法封装了每个实现步骤，但允许子类提供特定步骤的实现。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+mn-ea"/>
              </a:rPr>
              <a:t>模板方法设计模式可以：提高代码的复用、并简化子类设计。</a:t>
            </a:r>
            <a:endParaRPr lang="en-US" altLang="zh-CN" sz="1400" dirty="0">
              <a:solidFill>
                <a:srgbClr val="333333"/>
              </a:solidFill>
              <a:latin typeface="+mn-ea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E2A9CD8-53EB-94FF-53EA-D71616EC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模板方法设计模式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2576E7-9689-DA20-5F05-3A11185A7CC0}"/>
              </a:ext>
            </a:extLst>
          </p:cNvPr>
          <p:cNvSpPr txBox="1"/>
          <p:nvPr/>
        </p:nvSpPr>
        <p:spPr>
          <a:xfrm>
            <a:off x="576194" y="2118433"/>
            <a:ext cx="9307107" cy="3150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写法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、定义一个抽象类。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、在里面定义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个方法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一个是模板方法：把共同的实现步骤放里面去。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一个是抽象方法：不确定的实现步骤，交给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具体的子类来完成。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185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A5630-A217-D325-DA56-829894123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48301"/>
            <a:ext cx="2475793" cy="229289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B564A7E-507D-86B9-A66F-43E8A4314CE2}"/>
              </a:ext>
            </a:extLst>
          </p:cNvPr>
          <p:cNvSpPr txBox="1"/>
          <p:nvPr/>
        </p:nvSpPr>
        <p:spPr>
          <a:xfrm>
            <a:off x="582738" y="1101901"/>
            <a:ext cx="794469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None/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建议使用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关键字修饰模板方法，为什么？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3BBE48-D52F-6438-FE71-C0E922E45A81}"/>
              </a:ext>
            </a:extLst>
          </p:cNvPr>
          <p:cNvSpPr txBox="1"/>
          <p:nvPr/>
        </p:nvSpPr>
        <p:spPr>
          <a:xfrm>
            <a:off x="582738" y="1781088"/>
            <a:ext cx="5131126" cy="1227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模板方法是给子类直接使用的，不能被子类重写。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一旦子类重写了模板方法，模板方法就失效了。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CBFB38C-D155-A3EC-6F44-26E1426F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多学一招</a:t>
            </a:r>
          </a:p>
        </p:txBody>
      </p:sp>
    </p:spTree>
    <p:extLst>
      <p:ext uri="{BB962C8B-B14F-4D97-AF65-F5344CB8AC3E}">
        <p14:creationId xmlns:p14="http://schemas.microsoft.com/office/powerpoint/2010/main" val="109205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4">
            <a:extLst>
              <a:ext uri="{FF2B5EF4-FFF2-40B4-BE49-F238E27FC236}">
                <a16:creationId xmlns:a16="http://schemas.microsoft.com/office/drawing/2014/main" id="{FF547369-0228-CF93-C099-24C9FFC9D217}"/>
              </a:ext>
            </a:extLst>
          </p:cNvPr>
          <p:cNvSpPr txBox="1">
            <a:spLocks/>
          </p:cNvSpPr>
          <p:nvPr/>
        </p:nvSpPr>
        <p:spPr>
          <a:xfrm>
            <a:off x="3631476" y="1302019"/>
            <a:ext cx="8560524" cy="4520331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50000"/>
              </a:lnSpc>
              <a:buNone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、模板方法设计模式解决了什么问题？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95279" lvl="1" indent="-228594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解决方法中存在重复代码的问题。</a:t>
            </a:r>
            <a:endParaRPr lang="en-US" altLang="zh-CN" sz="14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250000"/>
              </a:lnSpc>
              <a:buNone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、模板方法设计模式应该怎么写？</a:t>
            </a:r>
            <a:endParaRPr lang="en-US" altLang="zh-CN" sz="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95279" lvl="1" indent="-228594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定义一个抽象类。</a:t>
            </a:r>
            <a:endParaRPr lang="en-US" altLang="zh-CN" sz="14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95279" lvl="1" indent="-228594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在里面定义</a:t>
            </a:r>
            <a:r>
              <a:rPr lang="en-US" altLang="zh-CN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个方法，一个是模板方法：放相同的代码里，一个是抽象方法：具体实现交给子类完成。</a:t>
            </a:r>
            <a:endParaRPr lang="en-US" altLang="zh-CN" sz="14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250000"/>
              </a:lnSpc>
              <a:buNone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、模板方法建议使用什么关键字修饰？为什么</a:t>
            </a:r>
            <a:endParaRPr lang="en-US" altLang="zh-CN" sz="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95279" lvl="1" indent="-228594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建议使用</a:t>
            </a:r>
            <a:r>
              <a:rPr lang="en-US" altLang="zh-CN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  <a:r>
              <a:rPr lang="zh-CN" altLang="en-US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关键字修饰模板方法。</a:t>
            </a:r>
            <a:endParaRPr lang="en-US" altLang="zh-CN" sz="14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900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9335" y="1703287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0065D-955C-D607-9083-5DA9DCA6FD3D}"/>
              </a:ext>
            </a:extLst>
          </p:cNvPr>
          <p:cNvSpPr txBox="1"/>
          <p:nvPr/>
        </p:nvSpPr>
        <p:spPr>
          <a:xfrm>
            <a:off x="6553045" y="2770250"/>
            <a:ext cx="5399086" cy="248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接口概述</a:t>
            </a:r>
            <a:endParaRPr kumimoji="1" lang="en-US" altLang="zh-CN" sz="16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接口好处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接口的综合小案例</a:t>
            </a:r>
            <a:endParaRPr kumimoji="1" lang="en-US" altLang="zh-CN" sz="1600" b="0" dirty="0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en-US" altLang="zh-CN" sz="1600" b="0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kumimoji="1" lang="zh-CN" altLang="en-US" sz="1600" b="0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开始，接口新增的三种方法</a:t>
            </a:r>
            <a:endParaRPr kumimoji="1" lang="en-US" altLang="zh-CN" sz="1600" b="0" dirty="0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接口的注意事项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273484" y="2770250"/>
            <a:ext cx="1429361" cy="2631150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0885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5F9CF0-1B2C-4006-83A4-68868A2D8DB6}"/>
              </a:ext>
            </a:extLst>
          </p:cNvPr>
          <p:cNvSpPr txBox="1"/>
          <p:nvPr/>
        </p:nvSpPr>
        <p:spPr>
          <a:xfrm>
            <a:off x="576196" y="810814"/>
            <a:ext cx="9918331" cy="1996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Java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提供了一个关键字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interface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定义出接口。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       </a:t>
            </a:r>
          </a:p>
          <a:p>
            <a:pPr>
              <a:lnSpc>
                <a:spcPct val="200000"/>
              </a:lnSpc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>
              <a:lnSpc>
                <a:spcPct val="200000"/>
              </a:lnSpc>
              <a:defRPr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230C0B1-249A-4480-9187-ED1D99B2076F}"/>
              </a:ext>
            </a:extLst>
          </p:cNvPr>
          <p:cNvSpPr txBox="1"/>
          <p:nvPr/>
        </p:nvSpPr>
        <p:spPr>
          <a:xfrm>
            <a:off x="907255" y="1528538"/>
            <a:ext cx="2213450" cy="769441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interface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接口名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// </a:t>
            </a:r>
            <a:r>
              <a:rPr lang="zh-CN" altLang="zh-CN" sz="11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成员变量（常量）</a:t>
            </a:r>
            <a:br>
              <a:rPr lang="zh-CN" altLang="zh-CN" sz="11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1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100" i="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// </a:t>
            </a:r>
            <a:r>
              <a:rPr lang="zh-CN" altLang="zh-CN" sz="11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成员方法（抽象方法）</a:t>
            </a:r>
            <a:br>
              <a:rPr lang="zh-CN" altLang="zh-CN" sz="1100" i="1" dirty="0">
                <a:solidFill>
                  <a:srgbClr val="8C8C8C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 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0F404D7-6C97-AE40-B055-F7A4093E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接口的概述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664B98D-2041-CE3B-30F3-A13652AA1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255" y="4004626"/>
            <a:ext cx="6793839" cy="1059649"/>
          </a:xfrm>
          <a:prstGeom prst="rect">
            <a:avLst/>
          </a:prstGeom>
          <a:solidFill>
            <a:srgbClr val="F9FBF9"/>
          </a:solidFill>
          <a:ln>
            <a:solidFill>
              <a:srgbClr val="F9FBF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修饰符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实现类</a:t>
            </a:r>
            <a:r>
              <a:rPr lang="zh-CN" altLang="en-US" sz="11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类名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接口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1,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接口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2,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接口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3 , ... {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</a:t>
            </a:r>
            <a: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实现类实现多个接口，必须重写完全部接口的全部抽象方法，否则实现类需要定义成抽象类。</a:t>
            </a:r>
            <a:b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207B7A5-1F9E-1E02-B45F-E919148AF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D6B0EF-0E1D-82C5-9CAE-1F9862B68881}"/>
              </a:ext>
            </a:extLst>
          </p:cNvPr>
          <p:cNvSpPr txBox="1"/>
          <p:nvPr/>
        </p:nvSpPr>
        <p:spPr>
          <a:xfrm>
            <a:off x="576196" y="2391134"/>
            <a:ext cx="6094602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>
                <a:sym typeface="+mn-ea"/>
              </a:rPr>
              <a:t> 注意：接口不能创建对象。</a:t>
            </a:r>
            <a:endParaRPr lang="en-US" altLang="zh-CN" dirty="0"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2AB799-965C-6A2B-F036-DC7BDFE3771C}"/>
              </a:ext>
            </a:extLst>
          </p:cNvPr>
          <p:cNvSpPr txBox="1"/>
          <p:nvPr/>
        </p:nvSpPr>
        <p:spPr>
          <a:xfrm>
            <a:off x="576196" y="3067510"/>
            <a:ext cx="11193558" cy="61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131" indent="-358131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接口是用来被类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实现（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implements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）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的，实现接口的类称为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实现类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，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一个类可以同时实现多个接口。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4">
            <a:extLst>
              <a:ext uri="{FF2B5EF4-FFF2-40B4-BE49-F238E27FC236}">
                <a16:creationId xmlns:a16="http://schemas.microsoft.com/office/drawing/2014/main" id="{FF547369-0228-CF93-C099-24C9FFC9D217}"/>
              </a:ext>
            </a:extLst>
          </p:cNvPr>
          <p:cNvSpPr txBox="1">
            <a:spLocks/>
          </p:cNvSpPr>
          <p:nvPr/>
        </p:nvSpPr>
        <p:spPr>
          <a:xfrm>
            <a:off x="3498608" y="1173480"/>
            <a:ext cx="8039323" cy="4511040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、接口是什么？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interface</a:t>
            </a: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关键字定义的一种结构， </a:t>
            </a:r>
            <a:r>
              <a:rPr lang="en-US" altLang="zh-CN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 8</a:t>
            </a: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之前，接口中只能定义成员变量和成员方法。</a:t>
            </a: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200000"/>
              </a:lnSpc>
              <a:buNone/>
              <a:defRPr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、接口怎么使用？需要注意什么？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333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 是被类 实现的。</a:t>
            </a: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52435" lvl="1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66685" lvl="1" indent="0">
              <a:lnSpc>
                <a:spcPct val="200000"/>
              </a:lnSpc>
              <a:buNone/>
              <a:defRPr/>
            </a:pPr>
            <a:endParaRPr lang="en-US" altLang="zh-CN" sz="1333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552435" lvl="1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C22B0B-AB34-3B2E-BCC4-C6CEAFE6A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699" y="3919836"/>
            <a:ext cx="6793839" cy="826893"/>
          </a:xfrm>
          <a:prstGeom prst="rect">
            <a:avLst/>
          </a:prstGeom>
          <a:solidFill>
            <a:srgbClr val="F9FBF9"/>
          </a:solidFill>
          <a:ln>
            <a:solidFill>
              <a:srgbClr val="F9FBF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修饰符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实现类</a:t>
            </a:r>
            <a:r>
              <a:rPr lang="zh-CN" altLang="en-US" sz="1100" b="1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类名</a:t>
            </a:r>
            <a:r>
              <a:rPr kumimoji="0" lang="zh-CN" altLang="zh-CN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接口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1,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接口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2, 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接口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3 , ... {</a:t>
            </a:r>
            <a:b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</a:t>
            </a:r>
            <a: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实现类实现多个接口，必须重写完全部接口的全部抽象方法，否则实现类需要定义成抽象类。</a:t>
            </a:r>
            <a:br>
              <a:rPr kumimoji="0" lang="zh-CN" altLang="zh-CN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03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9335" y="1703287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0065D-955C-D607-9083-5DA9DCA6FD3D}"/>
              </a:ext>
            </a:extLst>
          </p:cNvPr>
          <p:cNvSpPr txBox="1"/>
          <p:nvPr/>
        </p:nvSpPr>
        <p:spPr>
          <a:xfrm>
            <a:off x="6553045" y="2770250"/>
            <a:ext cx="5399086" cy="248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接口概述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接口好处</a:t>
            </a:r>
            <a:endParaRPr kumimoji="1" lang="en-US" altLang="zh-CN" sz="16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接口的综合小案例</a:t>
            </a:r>
            <a:endParaRPr kumimoji="1" lang="en-US" altLang="zh-CN" sz="1600" b="0" dirty="0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en-US" altLang="zh-CN" sz="1600" b="0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kumimoji="1" lang="zh-CN" altLang="en-US" sz="1600" b="0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开始，接口新增的三种方法</a:t>
            </a:r>
            <a:endParaRPr kumimoji="1" lang="en-US" altLang="zh-CN" sz="1600" b="0" dirty="0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接口的注意事项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273484" y="2770250"/>
            <a:ext cx="1429361" cy="2631150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5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6D8F4AA-E860-456C-8829-526BBE27B207}"/>
              </a:ext>
            </a:extLst>
          </p:cNvPr>
          <p:cNvSpPr txBox="1"/>
          <p:nvPr/>
        </p:nvSpPr>
        <p:spPr>
          <a:xfrm>
            <a:off x="3954095" y="2981368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sz="1400" noProof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DB2DF-C15B-807C-6800-FDA7841015B7}"/>
              </a:ext>
            </a:extLst>
          </p:cNvPr>
          <p:cNvSpPr txBox="1"/>
          <p:nvPr/>
        </p:nvSpPr>
        <p:spPr>
          <a:xfrm>
            <a:off x="576196" y="939792"/>
            <a:ext cx="10329126" cy="248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弥补了类单继承的不足，一个类同时可以实现多个接口，使类的角色更多，功能更强大。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让程序可以面向接口编程，这样程序员就可以灵活方便的切换各种业务实现（更利于程序的解耦合）。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325CFE-76F5-E049-04F0-D5677903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接口的好处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9335" y="1703287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0065D-955C-D607-9083-5DA9DCA6FD3D}"/>
              </a:ext>
            </a:extLst>
          </p:cNvPr>
          <p:cNvSpPr txBox="1"/>
          <p:nvPr/>
        </p:nvSpPr>
        <p:spPr>
          <a:xfrm>
            <a:off x="6553045" y="2770250"/>
            <a:ext cx="5399086" cy="248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接口概述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接口好处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接口的综合小案例</a:t>
            </a:r>
            <a:endParaRPr kumimoji="1" lang="en-US" altLang="zh-CN" sz="16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en-US" altLang="zh-CN" sz="1600" b="0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kumimoji="1" lang="zh-CN" altLang="en-US" sz="1600" b="0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开始，接口新增的三种方法</a:t>
            </a:r>
            <a:endParaRPr kumimoji="1" lang="en-US" altLang="zh-CN" sz="1600" b="0" dirty="0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接口的注意事项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273484" y="2770250"/>
            <a:ext cx="1429361" cy="2631150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028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6" name="Picture 2">
            <a:extLst>
              <a:ext uri="{FF2B5EF4-FFF2-40B4-BE49-F238E27FC236}">
                <a16:creationId xmlns:a16="http://schemas.microsoft.com/office/drawing/2014/main" id="{88B438DE-E557-4509-981E-AA2C99282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1" y="1325034"/>
            <a:ext cx="256116" cy="2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4C4939C-5665-54A0-A456-9315A3265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接口的应用案例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D5DD03F-0620-DB7C-37D7-955E1BCAC383}"/>
              </a:ext>
            </a:extLst>
          </p:cNvPr>
          <p:cNvGrpSpPr/>
          <p:nvPr/>
        </p:nvGrpSpPr>
        <p:grpSpPr>
          <a:xfrm>
            <a:off x="1753098" y="1325034"/>
            <a:ext cx="10244938" cy="3786799"/>
            <a:chOff x="1264428" y="1131064"/>
            <a:chExt cx="17949306" cy="2817049"/>
          </a:xfrm>
        </p:grpSpPr>
        <p:sp>
          <p:nvSpPr>
            <p:cNvPr id="5" name="圆角矩形 7">
              <a:extLst>
                <a:ext uri="{FF2B5EF4-FFF2-40B4-BE49-F238E27FC236}">
                  <a16:creationId xmlns:a16="http://schemas.microsoft.com/office/drawing/2014/main" id="{37109DA2-09C6-7152-1E4F-AE468D185A5E}"/>
                </a:ext>
              </a:extLst>
            </p:cNvPr>
            <p:cNvSpPr/>
            <p:nvPr/>
          </p:nvSpPr>
          <p:spPr bwMode="auto">
            <a:xfrm>
              <a:off x="1264428" y="1152525"/>
              <a:ext cx="17949306" cy="2795588"/>
            </a:xfrm>
            <a:prstGeom prst="roundRect">
              <a:avLst>
                <a:gd name="adj" fmla="val 99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 algn="ctr">
                <a:defRPr/>
              </a:pPr>
              <a:endParaRPr lang="en-US" sz="1013" dirty="0"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6" name="圆角矩形 8">
              <a:extLst>
                <a:ext uri="{FF2B5EF4-FFF2-40B4-BE49-F238E27FC236}">
                  <a16:creationId xmlns:a16="http://schemas.microsoft.com/office/drawing/2014/main" id="{00F76317-7C19-93F6-FBB8-0004233283BE}"/>
                </a:ext>
              </a:extLst>
            </p:cNvPr>
            <p:cNvSpPr/>
            <p:nvPr/>
          </p:nvSpPr>
          <p:spPr bwMode="auto">
            <a:xfrm>
              <a:off x="1336311" y="1131064"/>
              <a:ext cx="17805537" cy="2795588"/>
            </a:xfrm>
            <a:prstGeom prst="roundRect">
              <a:avLst>
                <a:gd name="adj" fmla="val 11474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anchor="ctr"/>
            <a:lstStyle/>
            <a:p>
              <a:pPr>
                <a:lnSpc>
                  <a:spcPct val="20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请设计一个班级学生的信息管理模块：学生的数据有：姓名、性别、成绩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功能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：要求打印出全班学生的信息； 功能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：要求打印出全班学生的平均成绩。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------------------------------------------------------------------------------------------------------------------------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</a:t>
              </a:r>
              <a:r>
                <a:rPr lang="zh-CN" altLang="en-US" sz="1400" dirty="0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注意！以上功能的业务实现是有多套方案的，比如：</a:t>
              </a:r>
              <a:endPara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第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套方案：能打印出班级全部学生的信息；能打印班级全部学生的平均分。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第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套方案：能打印出班级全部学生的信息（</a:t>
              </a:r>
              <a:r>
                <a:rPr lang="zh-CN" altLang="en-US" sz="1400" dirty="0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包含男女人数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）；能打印班级全部学生的平均分（</a:t>
              </a:r>
              <a:r>
                <a:rPr lang="zh-CN" altLang="en-US" sz="1400" dirty="0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要求是去掉最高分、最低分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）。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2000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要求：系统可以支持灵活的切换这些实现方案。</a:t>
              </a:r>
              <a:endParaRPr lang="en-US" altLang="zh-CN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7" name="矩形 1">
            <a:extLst>
              <a:ext uri="{FF2B5EF4-FFF2-40B4-BE49-F238E27FC236}">
                <a16:creationId xmlns:a16="http://schemas.microsoft.com/office/drawing/2014/main" id="{2750BB82-FEBB-6578-0865-13D2996AF4AF}"/>
              </a:ext>
            </a:extLst>
          </p:cNvPr>
          <p:cNvSpPr/>
          <p:nvPr/>
        </p:nvSpPr>
        <p:spPr>
          <a:xfrm>
            <a:off x="1762241" y="1231969"/>
            <a:ext cx="2724330" cy="152640"/>
          </a:xfrm>
          <a:custGeom>
            <a:avLst/>
            <a:gdLst>
              <a:gd name="connsiteX0" fmla="*/ 0 w 1565482"/>
              <a:gd name="connsiteY0" fmla="*/ 0 h 247650"/>
              <a:gd name="connsiteX1" fmla="*/ 15654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  <a:gd name="connsiteX0" fmla="*/ 0 w 1565482"/>
              <a:gd name="connsiteY0" fmla="*/ 0 h 247650"/>
              <a:gd name="connsiteX1" fmla="*/ 1298782 w 1565482"/>
              <a:gd name="connsiteY1" fmla="*/ 0 h 247650"/>
              <a:gd name="connsiteX2" fmla="*/ 1565482 w 1565482"/>
              <a:gd name="connsiteY2" fmla="*/ 247650 h 247650"/>
              <a:gd name="connsiteX3" fmla="*/ 0 w 1565482"/>
              <a:gd name="connsiteY3" fmla="*/ 247650 h 247650"/>
              <a:gd name="connsiteX4" fmla="*/ 0 w 1565482"/>
              <a:gd name="connsiteY4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5482" h="247650">
                <a:moveTo>
                  <a:pt x="0" y="0"/>
                </a:moveTo>
                <a:lnTo>
                  <a:pt x="1298782" y="0"/>
                </a:lnTo>
                <a:lnTo>
                  <a:pt x="1565482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418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AB40A50D-25BB-1FF2-1C02-09BDFC724C16}"/>
              </a:ext>
            </a:extLst>
          </p:cNvPr>
          <p:cNvSpPr/>
          <p:nvPr/>
        </p:nvSpPr>
        <p:spPr>
          <a:xfrm>
            <a:off x="1663814" y="1237898"/>
            <a:ext cx="2385461" cy="517190"/>
          </a:xfrm>
          <a:custGeom>
            <a:avLst/>
            <a:gdLst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323133 w 1323133"/>
              <a:gd name="connsiteY2" fmla="*/ 1198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0 w 1323133"/>
              <a:gd name="connsiteY0" fmla="*/ 0 h 1198669"/>
              <a:gd name="connsiteX1" fmla="*/ 1323133 w 1323133"/>
              <a:gd name="connsiteY1" fmla="*/ 0 h 1198669"/>
              <a:gd name="connsiteX2" fmla="*/ 1085008 w 1323133"/>
              <a:gd name="connsiteY2" fmla="*/ 817669 h 1198669"/>
              <a:gd name="connsiteX3" fmla="*/ 0 w 1323133"/>
              <a:gd name="connsiteY3" fmla="*/ 1198669 h 1198669"/>
              <a:gd name="connsiteX4" fmla="*/ 0 w 1323133"/>
              <a:gd name="connsiteY4" fmla="*/ 0 h 1198669"/>
              <a:gd name="connsiteX0" fmla="*/ 47625 w 1370758"/>
              <a:gd name="connsiteY0" fmla="*/ 0 h 827194"/>
              <a:gd name="connsiteX1" fmla="*/ 1370758 w 1370758"/>
              <a:gd name="connsiteY1" fmla="*/ 0 h 827194"/>
              <a:gd name="connsiteX2" fmla="*/ 1132633 w 1370758"/>
              <a:gd name="connsiteY2" fmla="*/ 817669 h 827194"/>
              <a:gd name="connsiteX3" fmla="*/ 0 w 1370758"/>
              <a:gd name="connsiteY3" fmla="*/ 827194 h 827194"/>
              <a:gd name="connsiteX4" fmla="*/ 47625 w 1370758"/>
              <a:gd name="connsiteY4" fmla="*/ 0 h 827194"/>
              <a:gd name="connsiteX0" fmla="*/ 47625 w 1370758"/>
              <a:gd name="connsiteY0" fmla="*/ 0 h 836719"/>
              <a:gd name="connsiteX1" fmla="*/ 1370758 w 1370758"/>
              <a:gd name="connsiteY1" fmla="*/ 0 h 836719"/>
              <a:gd name="connsiteX2" fmla="*/ 875458 w 1370758"/>
              <a:gd name="connsiteY2" fmla="*/ 836719 h 836719"/>
              <a:gd name="connsiteX3" fmla="*/ 0 w 1370758"/>
              <a:gd name="connsiteY3" fmla="*/ 827194 h 836719"/>
              <a:gd name="connsiteX4" fmla="*/ 47625 w 1370758"/>
              <a:gd name="connsiteY4" fmla="*/ 0 h 83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58" h="836719">
                <a:moveTo>
                  <a:pt x="47625" y="0"/>
                </a:moveTo>
                <a:lnTo>
                  <a:pt x="1370758" y="0"/>
                </a:lnTo>
                <a:lnTo>
                  <a:pt x="875458" y="836719"/>
                </a:lnTo>
                <a:lnTo>
                  <a:pt x="0" y="827194"/>
                </a:lnTo>
                <a:lnTo>
                  <a:pt x="47625" y="0"/>
                </a:lnTo>
                <a:close/>
              </a:path>
            </a:pathLst>
          </a:custGeom>
          <a:solidFill>
            <a:srgbClr val="4188C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60B8FD-5AC5-7E3C-ECC1-F59B86F96C34}"/>
              </a:ext>
            </a:extLst>
          </p:cNvPr>
          <p:cNvSpPr txBox="1"/>
          <p:nvPr/>
        </p:nvSpPr>
        <p:spPr>
          <a:xfrm>
            <a:off x="1992242" y="1329864"/>
            <a:ext cx="1380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需求</a:t>
            </a:r>
          </a:p>
        </p:txBody>
      </p:sp>
    </p:spTree>
    <p:extLst>
      <p:ext uri="{BB962C8B-B14F-4D97-AF65-F5344CB8AC3E}">
        <p14:creationId xmlns:p14="http://schemas.microsoft.com/office/powerpoint/2010/main" val="2559704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9335" y="1703287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0065D-955C-D607-9083-5DA9DCA6FD3D}"/>
              </a:ext>
            </a:extLst>
          </p:cNvPr>
          <p:cNvSpPr txBox="1"/>
          <p:nvPr/>
        </p:nvSpPr>
        <p:spPr>
          <a:xfrm>
            <a:off x="6553045" y="2770250"/>
            <a:ext cx="5399086" cy="248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接口概述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接口好处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接口的综合小案例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en-US" altLang="zh-CN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kumimoji="1"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开始，接口新增的三种方法</a:t>
            </a:r>
            <a:endParaRPr kumimoji="1" lang="en-US" altLang="zh-CN" sz="16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接口的注意事项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273484" y="2770250"/>
            <a:ext cx="1429361" cy="2631150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74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4821B7-F62E-FE26-2F58-D3C24ACB8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96" y="1621444"/>
            <a:ext cx="6133604" cy="4524315"/>
          </a:xfrm>
          <a:prstGeom prst="rect">
            <a:avLst/>
          </a:prstGeom>
          <a:solidFill>
            <a:srgbClr val="F9FBF9"/>
          </a:solidFill>
          <a:ln w="9525" cap="flat" cmpd="sng" algn="ctr">
            <a:solidFill>
              <a:srgbClr val="F9FBF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interface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/**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* 1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、默认方法（实例方法）：使用用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default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修饰，默认会被加上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public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修饰。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*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注意：只能使用接口的实现类对象调用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*/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default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test1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...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/**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* 2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、私有方法：必须用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private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修饰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(JDK 9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开始才支持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)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*/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private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test2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...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/**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* 3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、类方法（静态方法）：使用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static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修饰，默认会被加上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public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修饰。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*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注意：只能用接口名来调用。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*/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test3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...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AEA460-1223-0D64-6F72-A4AF51058481}"/>
              </a:ext>
            </a:extLst>
          </p:cNvPr>
          <p:cNvSpPr txBox="1"/>
          <p:nvPr/>
        </p:nvSpPr>
        <p:spPr>
          <a:xfrm>
            <a:off x="576196" y="1072614"/>
            <a:ext cx="6133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b="1" noProof="1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 8</a:t>
            </a:r>
            <a:r>
              <a:rPr lang="zh-CN" altLang="en-US" b="1" noProof="1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开始，接口新增了三种形式的方法：</a:t>
            </a:r>
            <a:endParaRPr lang="en-US" altLang="zh-CN" b="1" noProof="1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615CD6-EBA4-11FB-E84E-9E99E75FC1D6}"/>
              </a:ext>
            </a:extLst>
          </p:cNvPr>
          <p:cNvSpPr txBox="1"/>
          <p:nvPr/>
        </p:nvSpPr>
        <p:spPr>
          <a:xfrm>
            <a:off x="7178450" y="969310"/>
            <a:ext cx="4663030" cy="1304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50000"/>
              </a:lnSpc>
              <a:buNone/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开始，接口中为啥要新增这些方法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pPr marL="247620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增强了接口的能力，更便于项目的扩展和维护。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83C320E-4576-A07D-DAF7-278E378C0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接口新增的三种方法</a:t>
            </a:r>
          </a:p>
        </p:txBody>
      </p:sp>
    </p:spTree>
    <p:extLst>
      <p:ext uri="{BB962C8B-B14F-4D97-AF65-F5344CB8AC3E}">
        <p14:creationId xmlns:p14="http://schemas.microsoft.com/office/powerpoint/2010/main" val="213140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4">
            <a:extLst>
              <a:ext uri="{FF2B5EF4-FFF2-40B4-BE49-F238E27FC236}">
                <a16:creationId xmlns:a16="http://schemas.microsoft.com/office/drawing/2014/main" id="{32744714-8ABD-DEDC-6EFB-5FA79B75E9A0}"/>
              </a:ext>
            </a:extLst>
          </p:cNvPr>
          <p:cNvSpPr txBox="1">
            <a:spLocks/>
          </p:cNvSpPr>
          <p:nvPr/>
        </p:nvSpPr>
        <p:spPr>
          <a:xfrm>
            <a:off x="3959351" y="1088223"/>
            <a:ext cx="7857745" cy="4886569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开始，接口中新增了哪些方法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pPr marL="1162020" lvl="2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默认方法：使用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default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修饰，使用实现类的对象调用。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162020" lvl="2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静态方法：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修饰，必须用当前接口名调用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162020" lvl="2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私有方法：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jdk9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开始才有的，只能在接口内部被调用。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162020" lvl="2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他们都会默认被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2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开始，接口中为啥要新增这些方法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pPr marL="1162020" lvl="2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增强了接口的能力，更便于项目的扩展和维护。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983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9335" y="1703287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A0065D-955C-D607-9083-5DA9DCA6FD3D}"/>
              </a:ext>
            </a:extLst>
          </p:cNvPr>
          <p:cNvSpPr txBox="1"/>
          <p:nvPr/>
        </p:nvSpPr>
        <p:spPr>
          <a:xfrm>
            <a:off x="6553045" y="2770250"/>
            <a:ext cx="5399086" cy="248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接口概述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接口好处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接口的综合小案例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kumimoji="1"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开始，接口新增的三种方法</a:t>
            </a:r>
            <a:endParaRPr kumimoji="1"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接口的注意事项</a:t>
            </a:r>
            <a:endParaRPr kumimoji="1" lang="en-US" altLang="zh-CN" sz="16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AD6ECE07-8A86-9DBF-9E19-78EE7E01CD09}"/>
              </a:ext>
            </a:extLst>
          </p:cNvPr>
          <p:cNvSpPr/>
          <p:nvPr/>
        </p:nvSpPr>
        <p:spPr>
          <a:xfrm>
            <a:off x="6273484" y="2770250"/>
            <a:ext cx="1429361" cy="2631150"/>
          </a:xfrm>
          <a:prstGeom prst="leftBrace">
            <a:avLst>
              <a:gd name="adj1" fmla="val 21511"/>
              <a:gd name="adj2" fmla="val 5096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0662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4E567CBB-952A-458B-AE17-88FB5357B725}"/>
              </a:ext>
            </a:extLst>
          </p:cNvPr>
          <p:cNvSpPr txBox="1"/>
          <p:nvPr/>
        </p:nvSpPr>
        <p:spPr>
          <a:xfrm>
            <a:off x="576196" y="884704"/>
            <a:ext cx="10534860" cy="2458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defRPr/>
            </a:pPr>
            <a:r>
              <a:rPr lang="en-US" altLang="zh-CN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、接口与接口可以多继承：一个接口可以同时继承多个接口</a:t>
            </a:r>
            <a:r>
              <a:rPr lang="en-US" altLang="zh-CN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</a:t>
            </a:r>
            <a:r>
              <a:rPr lang="zh-CN" altLang="en-US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重点</a:t>
            </a:r>
            <a:r>
              <a:rPr lang="en-US" altLang="zh-CN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</a:t>
            </a:r>
            <a:r>
              <a:rPr lang="zh-CN" altLang="en-US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60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50000"/>
              </a:lnSpc>
              <a:defRPr/>
            </a:pPr>
            <a:r>
              <a:rPr lang="en-US" altLang="zh-CN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、一个接口继承多个接口，如果多个接口中存在方法签名冲突，则此时不支持多继承，也不支持多实现。</a:t>
            </a:r>
            <a:endParaRPr lang="en-US" altLang="zh-CN" sz="160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50000"/>
              </a:lnSpc>
              <a:defRPr/>
            </a:pPr>
            <a:r>
              <a:rPr lang="en-US" altLang="zh-CN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、一个类继承了父类，又同时实现了接口，如果父类中和接口中有同名的默认方法，实现类会优先用父类的。</a:t>
            </a:r>
            <a:endParaRPr lang="en-US" altLang="zh-CN" sz="160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50000"/>
              </a:lnSpc>
              <a:defRPr/>
            </a:pPr>
            <a:r>
              <a:rPr lang="en-US" altLang="zh-CN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r>
              <a:rPr lang="zh-CN" altLang="en-US" sz="160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、一个类实现了多个接口，如果多个接口中存在同名的默认方法，可以不冲突，这个类重写该方法即可。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F67DC7-0346-3C59-9734-3B0B9A55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接口的注意事项</a:t>
            </a:r>
          </a:p>
        </p:txBody>
      </p:sp>
    </p:spTree>
    <p:extLst>
      <p:ext uri="{BB962C8B-B14F-4D97-AF65-F5344CB8AC3E}">
        <p14:creationId xmlns:p14="http://schemas.microsoft.com/office/powerpoint/2010/main" val="37517000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07079" y="1794727"/>
            <a:ext cx="3692525" cy="2631150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单例类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枚举类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综合小案例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2301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93DCD7-8450-DDBE-2974-0D97F0C9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智能家居控制系统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259763-4DF5-434E-BA87-E3E3540D21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786" y="1019685"/>
            <a:ext cx="6339356" cy="2327868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某智能家居系统，可以让用户选择要控制的家用设备（吊灯，电视机，洗衣机，落地窗），并可以对它们进行打开或者关闭操作。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11E3CE-2FEC-1844-EB9A-E1CCC141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06" y="1104627"/>
            <a:ext cx="2354784" cy="42599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81090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图片 1">
            <a:extLst>
              <a:ext uri="{FF2B5EF4-FFF2-40B4-BE49-F238E27FC236}">
                <a16:creationId xmlns:a16="http://schemas.microsoft.com/office/drawing/2014/main" id="{DA2F3ADD-BD86-45B1-8996-C05C82318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9822</TotalTime>
  <Words>3602</Words>
  <Application>Microsoft Office PowerPoint</Application>
  <PresentationFormat>宽屏</PresentationFormat>
  <Paragraphs>351</Paragraphs>
  <Slides>46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46</vt:i4>
      </vt:variant>
    </vt:vector>
  </HeadingPairs>
  <TitlesOfParts>
    <vt:vector size="69" baseType="lpstr">
      <vt:lpstr>Alibaba PuHuiTi B</vt:lpstr>
      <vt:lpstr>Alibaba PuHuiTi M</vt:lpstr>
      <vt:lpstr>Alibaba PuHuiTi Medium</vt:lpstr>
      <vt:lpstr>Alibaba PuHuiTi R</vt:lpstr>
      <vt:lpstr>Arial Unicode MS</vt:lpstr>
      <vt:lpstr>inpin heiti</vt:lpstr>
      <vt:lpstr>阿里巴巴普惠体</vt:lpstr>
      <vt:lpstr>阿里巴巴普惠体 Heavy</vt:lpstr>
      <vt:lpstr>阿里巴巴普惠体 Medium</vt:lpstr>
      <vt:lpstr>等线</vt:lpstr>
      <vt:lpstr>楷体</vt:lpstr>
      <vt:lpstr>微软雅黑</vt:lpstr>
      <vt:lpstr>印品黑体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面向对象高级</vt:lpstr>
      <vt:lpstr>PowerPoint 演示文稿</vt:lpstr>
      <vt:lpstr>认识final</vt:lpstr>
      <vt:lpstr>PowerPoint 演示文稿</vt:lpstr>
      <vt:lpstr>常量</vt:lpstr>
      <vt:lpstr>PowerPoint 演示文稿</vt:lpstr>
      <vt:lpstr>什么是设计模式？</vt:lpstr>
      <vt:lpstr>单例设计模式</vt:lpstr>
      <vt:lpstr>单例设计模式</vt:lpstr>
      <vt:lpstr>单例类有很多形式</vt:lpstr>
      <vt:lpstr>PowerPoint 演示文稿</vt:lpstr>
      <vt:lpstr>懒汉式单例类</vt:lpstr>
      <vt:lpstr>PowerPoint 演示文稿</vt:lpstr>
      <vt:lpstr>PowerPoint 演示文稿</vt:lpstr>
      <vt:lpstr>枚举类</vt:lpstr>
      <vt:lpstr>枚举类的特点</vt:lpstr>
      <vt:lpstr>PowerPoint 演示文稿</vt:lpstr>
      <vt:lpstr>枚举类的常见应用场景</vt:lpstr>
      <vt:lpstr>PowerPoint 演示文稿</vt:lpstr>
      <vt:lpstr>抽象类</vt:lpstr>
      <vt:lpstr>抽象类的注意事项、特点</vt:lpstr>
      <vt:lpstr>PowerPoint 演示文稿</vt:lpstr>
      <vt:lpstr>PowerPoint 演示文稿</vt:lpstr>
      <vt:lpstr>使用抽象类的好处</vt:lpstr>
      <vt:lpstr>PowerPoint 演示文稿</vt:lpstr>
      <vt:lpstr>PowerPoint 演示文稿</vt:lpstr>
      <vt:lpstr>模板方法设计模式</vt:lpstr>
      <vt:lpstr>模板方法设计模式</vt:lpstr>
      <vt:lpstr>多学一招</vt:lpstr>
      <vt:lpstr>PowerPoint 演示文稿</vt:lpstr>
      <vt:lpstr>PowerPoint 演示文稿</vt:lpstr>
      <vt:lpstr>接口的概述</vt:lpstr>
      <vt:lpstr>PowerPoint 演示文稿</vt:lpstr>
      <vt:lpstr>PowerPoint 演示文稿</vt:lpstr>
      <vt:lpstr>接口的好处</vt:lpstr>
      <vt:lpstr>PowerPoint 演示文稿</vt:lpstr>
      <vt:lpstr>接口的应用案例</vt:lpstr>
      <vt:lpstr>PowerPoint 演示文稿</vt:lpstr>
      <vt:lpstr>接口新增的三种方法</vt:lpstr>
      <vt:lpstr>PowerPoint 演示文稿</vt:lpstr>
      <vt:lpstr>PowerPoint 演示文稿</vt:lpstr>
      <vt:lpstr>接口的注意事项</vt:lpstr>
      <vt:lpstr>PowerPoint 演示文稿</vt:lpstr>
      <vt:lpstr>智能家居控制系统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l d</cp:lastModifiedBy>
  <cp:revision>1328</cp:revision>
  <cp:lastPrinted>2022-05-29T16:00:00Z</cp:lastPrinted>
  <dcterms:created xsi:type="dcterms:W3CDTF">2022-05-29T16:00:00Z</dcterms:created>
  <dcterms:modified xsi:type="dcterms:W3CDTF">2024-07-08T08:09:16Z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